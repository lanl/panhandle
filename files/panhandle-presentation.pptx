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</p:sldMasterIdLst>
  <p:notesMasterIdLst>
    <p:notesMasterId r:id="rId27"/>
  </p:notesMasterIdLst>
  <p:handoutMasterIdLst>
    <p:handoutMasterId r:id="rId28"/>
  </p:handoutMasterIdLst>
  <p:sldIdLst>
    <p:sldId id="325" r:id="rId3"/>
    <p:sldId id="293" r:id="rId4"/>
    <p:sldId id="311" r:id="rId5"/>
    <p:sldId id="313" r:id="rId6"/>
    <p:sldId id="316" r:id="rId7"/>
    <p:sldId id="324" r:id="rId8"/>
    <p:sldId id="322" r:id="rId9"/>
    <p:sldId id="315" r:id="rId10"/>
    <p:sldId id="329" r:id="rId11"/>
    <p:sldId id="323" r:id="rId12"/>
    <p:sldId id="331" r:id="rId13"/>
    <p:sldId id="332" r:id="rId14"/>
    <p:sldId id="307" r:id="rId15"/>
    <p:sldId id="318" r:id="rId16"/>
    <p:sldId id="317" r:id="rId17"/>
    <p:sldId id="319" r:id="rId18"/>
    <p:sldId id="321" r:id="rId19"/>
    <p:sldId id="327" r:id="rId20"/>
    <p:sldId id="333" r:id="rId21"/>
    <p:sldId id="330" r:id="rId22"/>
    <p:sldId id="328" r:id="rId23"/>
    <p:sldId id="320" r:id="rId24"/>
    <p:sldId id="314" r:id="rId25"/>
    <p:sldId id="308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1"/>
    <a:srgbClr val="000F7E"/>
    <a:srgbClr val="09198D"/>
    <a:srgbClr val="FF9129"/>
    <a:srgbClr val="00AA64"/>
    <a:srgbClr val="1A70B8"/>
    <a:srgbClr val="0A197E"/>
    <a:srgbClr val="000000"/>
    <a:srgbClr val="69C3FF"/>
    <a:srgbClr val="EB0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1"/>
    <p:restoredTop sz="94953"/>
  </p:normalViewPr>
  <p:slideViewPr>
    <p:cSldViewPr snapToGrid="0" snapToObjects="1" showGuides="1">
      <p:cViewPr varScale="1">
        <p:scale>
          <a:sx n="187" d="100"/>
          <a:sy n="187" d="100"/>
        </p:scale>
        <p:origin x="1864" y="184"/>
      </p:cViewPr>
      <p:guideLst>
        <p:guide/>
        <p:guide orient="horz" pos="1620"/>
      </p:guideLst>
    </p:cSldViewPr>
  </p:slideViewPr>
  <p:outlineViewPr>
    <p:cViewPr>
      <p:scale>
        <a:sx n="33" d="100"/>
        <a:sy n="33" d="100"/>
      </p:scale>
      <p:origin x="0" y="-381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 showGuides="1">
      <p:cViewPr varScale="1">
        <p:scale>
          <a:sx n="90" d="100"/>
          <a:sy n="90" d="100"/>
        </p:scale>
        <p:origin x="38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mcgee/Desktop/panhandle/archive/test_results/razorback/combined_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mcgee/Desktop/panhandle/archive/test_results/razorback/combined_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mcgee/Desktop/panhandle/archive/test_results/selene/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mcgee/Desktop/panhandle/archive/test_results/selene/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v>Variation in Test GigaFlops  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E5-8C49-9ADF-15AF004FBAF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E5-8C49-9ADF-15AF004FBAF6}"/>
              </c:ext>
            </c:extLst>
          </c:dPt>
          <c:cat>
            <c:strRef>
              <c:f>Sheet1!$T$9:$T$10</c:f>
              <c:strCache>
                <c:ptCount val="2"/>
                <c:pt idx="0">
                  <c:v>Median GFlops</c:v>
                </c:pt>
                <c:pt idx="1">
                  <c:v>Variance in GFlops</c:v>
                </c:pt>
              </c:strCache>
            </c:strRef>
          </c:cat>
          <c:val>
            <c:numRef>
              <c:f>Sheet1!$U$9:$U$10</c:f>
              <c:numCache>
                <c:formatCode>General</c:formatCode>
                <c:ptCount val="2"/>
                <c:pt idx="0">
                  <c:v>7.6672599999999997</c:v>
                </c:pt>
                <c:pt idx="1">
                  <c:v>3.5379999999999967E-2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E5-8C49-9ADF-15AF004FBA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85000"/>
      </a:schemeClr>
    </a:solidFill>
    <a:ln cap="rnd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GFlops per Test Number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GFlops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Sheet1!$M$2:$M$16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</c:numCache>
            </c:numRef>
          </c:xVal>
          <c:yVal>
            <c:numRef>
              <c:f>Sheet1!$N$2:$N$16</c:f>
              <c:numCache>
                <c:formatCode>General</c:formatCode>
                <c:ptCount val="15"/>
                <c:pt idx="0">
                  <c:v>7.6698300000000001</c:v>
                </c:pt>
                <c:pt idx="1">
                  <c:v>7.6672599999999997</c:v>
                </c:pt>
                <c:pt idx="2">
                  <c:v>7.6759300000000001</c:v>
                </c:pt>
                <c:pt idx="3">
                  <c:v>7.6650999999999998</c:v>
                </c:pt>
                <c:pt idx="4">
                  <c:v>7.6689699999999998</c:v>
                </c:pt>
                <c:pt idx="5">
                  <c:v>7.6581000000000001</c:v>
                </c:pt>
                <c:pt idx="6">
                  <c:v>7.6722299999999999</c:v>
                </c:pt>
                <c:pt idx="7">
                  <c:v>7.6675000000000004</c:v>
                </c:pt>
                <c:pt idx="8">
                  <c:v>7.6765699999999999</c:v>
                </c:pt>
                <c:pt idx="9">
                  <c:v>7.6582800000000004</c:v>
                </c:pt>
                <c:pt idx="10">
                  <c:v>7.6581200000000003</c:v>
                </c:pt>
                <c:pt idx="11">
                  <c:v>7.6411899999999999</c:v>
                </c:pt>
                <c:pt idx="12">
                  <c:v>7.6532499999999999</c:v>
                </c:pt>
                <c:pt idx="13">
                  <c:v>7.67272</c:v>
                </c:pt>
                <c:pt idx="14">
                  <c:v>7.6534500000000003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82-0243-9322-765FE3B3CD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6087583"/>
        <c:axId val="725801871"/>
      </c:scatterChart>
      <c:valAx>
        <c:axId val="7260875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5801871"/>
        <c:crosses val="autoZero"/>
        <c:crossBetween val="midCat"/>
      </c:valAx>
      <c:valAx>
        <c:axId val="72580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0875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85000"/>
      </a:schemeClr>
    </a:solidFill>
    <a:ln cap="rnd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Variation</a:t>
            </a:r>
            <a:r>
              <a:rPr lang="en-US" baseline="0" dirty="0"/>
              <a:t> in Test </a:t>
            </a:r>
            <a:r>
              <a:rPr lang="en-US" baseline="0" dirty="0" err="1"/>
              <a:t>GigaFlops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0A-7340-AD76-C3B1F743AE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0A-7340-AD76-C3B1F743AEEC}"/>
              </c:ext>
            </c:extLst>
          </c:dPt>
          <c:cat>
            <c:strRef>
              <c:f>Sheet1!$U$1:$U$2</c:f>
              <c:strCache>
                <c:ptCount val="2"/>
                <c:pt idx="0">
                  <c:v>Variance in GFlops</c:v>
                </c:pt>
                <c:pt idx="1">
                  <c:v>Median GFlops</c:v>
                </c:pt>
              </c:strCache>
            </c:strRef>
          </c:cat>
          <c:val>
            <c:numRef>
              <c:f>Sheet1!$V$1:$V$2</c:f>
              <c:numCache>
                <c:formatCode>General</c:formatCode>
                <c:ptCount val="2"/>
                <c:pt idx="0">
                  <c:v>2.7300000000000001E-2</c:v>
                </c:pt>
                <c:pt idx="1">
                  <c:v>2.0425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0A-7340-AD76-C3B1F743A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85000"/>
      </a:schemeClr>
    </a:solidFill>
    <a:ln cap="rnd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GFlops per Test Number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 GFlops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Sheet1!$M$2:$M$18</c:f>
              <c:numCache>
                <c:formatCode>General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6</c:v>
                </c:pt>
                <c:pt idx="14">
                  <c:v>6</c:v>
                </c:pt>
                <c:pt idx="15">
                  <c:v>7</c:v>
                </c:pt>
                <c:pt idx="16">
                  <c:v>7</c:v>
                </c:pt>
              </c:numCache>
            </c:numRef>
          </c:xVal>
          <c:yVal>
            <c:numRef>
              <c:f>Sheet1!$N$2:$N$18</c:f>
              <c:numCache>
                <c:formatCode>General</c:formatCode>
                <c:ptCount val="17"/>
                <c:pt idx="0">
                  <c:v>2.0424000000000002</c:v>
                </c:pt>
                <c:pt idx="1">
                  <c:v>2.0413000000000001</c:v>
                </c:pt>
                <c:pt idx="2">
                  <c:v>2.0396000000000001</c:v>
                </c:pt>
                <c:pt idx="3">
                  <c:v>2.0392999999999999</c:v>
                </c:pt>
                <c:pt idx="4">
                  <c:v>2.0424000000000002</c:v>
                </c:pt>
                <c:pt idx="5">
                  <c:v>2.0413000000000001</c:v>
                </c:pt>
                <c:pt idx="6">
                  <c:v>2.0411999999999999</c:v>
                </c:pt>
                <c:pt idx="7">
                  <c:v>2.0425</c:v>
                </c:pt>
                <c:pt idx="8">
                  <c:v>2.0445000000000002</c:v>
                </c:pt>
                <c:pt idx="9">
                  <c:v>2.0394999999999999</c:v>
                </c:pt>
                <c:pt idx="10">
                  <c:v>2.0626000000000002</c:v>
                </c:pt>
                <c:pt idx="11">
                  <c:v>2.0666000000000002</c:v>
                </c:pt>
                <c:pt idx="12">
                  <c:v>2.0640999999999998</c:v>
                </c:pt>
                <c:pt idx="13">
                  <c:v>2.0649000000000002</c:v>
                </c:pt>
                <c:pt idx="14">
                  <c:v>2.0651999999999999</c:v>
                </c:pt>
                <c:pt idx="15">
                  <c:v>2.0649000000000002</c:v>
                </c:pt>
                <c:pt idx="16">
                  <c:v>2.0644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06-2544-A0B8-E4B499600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7349631"/>
        <c:axId val="1297351631"/>
      </c:scatterChart>
      <c:valAx>
        <c:axId val="1297349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7351631"/>
        <c:crosses val="autoZero"/>
        <c:crossBetween val="midCat"/>
      </c:valAx>
      <c:valAx>
        <c:axId val="1297351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7349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85000"/>
      </a:schemeClr>
    </a:solidFill>
    <a:ln cap="rnd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E6B804-3E45-364D-A045-BB358CB8E6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BAC92-B99D-FF4D-A990-D686745CA7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5749E-04CE-F245-A958-C4F030697BC8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6A46C-39E5-FF4C-9921-815AC4BE94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FC7B7-2133-5C4A-AC28-C1AA9FF1AC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CEA21-F2A0-454B-B622-7D3A8835A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F264E-8066-E947-B6B5-B5BD434D7B6B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8D52D-A3F1-4B43-9554-93E43582D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3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3416-A2AE-A8E3-E4F7-2744C00E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E666F-3F8C-0AB6-F322-22A107F57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8160A-1E8E-A39B-8752-B267D85B5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09CE8-8A51-4D2F-9F87-0FF3954C1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D52D-A3F1-4B43-9554-93E43582DB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0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A78D693-BA62-1E4A-A3D2-53CDC72AAE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8560" y="190440"/>
            <a:ext cx="8805439" cy="4953060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374" y="1486403"/>
            <a:ext cx="3830320" cy="1169551"/>
          </a:xfrm>
        </p:spPr>
        <p:txBody>
          <a:bodyPr lIns="0" tIns="0" rIns="0" bIns="0" anchor="t" anchorCtr="0">
            <a:normAutofit/>
          </a:bodyPr>
          <a:lstStyle>
            <a:lvl1pPr algn="l" fontAlgn="t">
              <a:lnSpc>
                <a:spcPct val="100000"/>
              </a:lnSpc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71309"/>
            <a:ext cx="3830320" cy="485140"/>
          </a:xfrm>
        </p:spPr>
        <p:txBody>
          <a:bodyPr lIns="0" tIns="0" rIns="0" bIns="0"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presenter or presenting org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D57AE5-8F4A-FA4E-90E4-E2EE525E9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58373"/>
            <a:ext cx="3331464" cy="152975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000446-DC24-2642-A21F-0BEA00731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297127"/>
            <a:ext cx="2714105" cy="243609"/>
          </a:xfrm>
        </p:spPr>
        <p:txBody>
          <a:bodyPr lIns="0" tIns="0" rIns="0" bIns="0"/>
          <a:lstStyle>
            <a:lvl1pPr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the date of the presentation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5AE9854-7A76-C34E-9D7F-DE749A698C73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9122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DD9D28ED-2D06-3A46-9727-8A9B2D7E7F63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6/26/25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15BFA-90C1-0F46-AAA7-8C67D48F46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140122"/>
            <a:ext cx="2597150" cy="379412"/>
          </a:xfrm>
        </p:spPr>
        <p:txBody>
          <a:bodyPr lIns="0" tIns="0" rIns="0" bIns="0" anchor="t" anchorCtr="0"/>
          <a:lstStyle>
            <a:lvl1pPr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  <a:lvl2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2pPr>
            <a:lvl3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3pPr>
            <a:lvl4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4pPr>
            <a:lvl5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LA-UR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14CA33-8F7C-674C-8C40-9D83B5A1C5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6401" y="4751400"/>
            <a:ext cx="598099" cy="2746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5E8F88-2F04-A24D-B64D-D31A64C16106}"/>
              </a:ext>
            </a:extLst>
          </p:cNvPr>
          <p:cNvSpPr txBox="1"/>
          <p:nvPr userDrawn="1"/>
        </p:nvSpPr>
        <p:spPr>
          <a:xfrm>
            <a:off x="918682" y="4859907"/>
            <a:ext cx="3888259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by Triad National Security, LLC, for the U.S. Department of Energy’s NNSA.</a:t>
            </a:r>
          </a:p>
        </p:txBody>
      </p:sp>
    </p:spTree>
    <p:extLst>
      <p:ext uri="{BB962C8B-B14F-4D97-AF65-F5344CB8AC3E}">
        <p14:creationId xmlns:p14="http://schemas.microsoft.com/office/powerpoint/2010/main" val="1132053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 Statemen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7" cy="5143500"/>
          </a:xfrm>
          <a:noFill/>
          <a:ln>
            <a:noFill/>
          </a:ln>
        </p:spPr>
        <p:txBody>
          <a:bodyPr/>
          <a:lstStyle>
            <a:lvl1pPr>
              <a:buFontTx/>
              <a:buNone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3296A8-807F-5647-9E27-81056A808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628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6E7E14-724D-564D-8C8A-AA19AF322B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1609" y="4420821"/>
            <a:ext cx="1505063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950A1-C470-5C48-B92A-282D2269A9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559495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-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8229600" cy="3195638"/>
          </a:xfrm>
        </p:spPr>
        <p:txBody>
          <a:bodyPr wrap="square"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 marL="460375" indent="-230188">
              <a:tabLst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914400" indent="-227013"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7765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_w logo wtrm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CB73A-3EB2-0F4B-A749-FE602CE5F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867" t="3208" r="30052" b="19629"/>
          <a:stretch/>
        </p:blipFill>
        <p:spPr>
          <a:xfrm>
            <a:off x="3064933" y="-141546"/>
            <a:ext cx="6079068" cy="528504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6054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0429E5-795A-8A43-A273-2BC100111C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2999"/>
            <a:ext cx="8226054" cy="3200400"/>
          </a:xfrm>
        </p:spPr>
        <p:txBody>
          <a:bodyPr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51EB0E6-A70D-CE45-BB73-DE0110A910ED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6001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7AA508B-E60F-E649-B511-759C564E884D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320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6/26/25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7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225D86E-8C5D-1841-9FAC-7F2781607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43000"/>
            <a:ext cx="8226055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6054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0429E5-795A-8A43-A273-2BC100111C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508760"/>
            <a:ext cx="8226054" cy="2906613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50234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08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Whit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82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nt with Text and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7" cy="514350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DBF6C-0676-5247-8404-7764B27D9124}"/>
              </a:ext>
            </a:extLst>
          </p:cNvPr>
          <p:cNvSpPr/>
          <p:nvPr userDrawn="1"/>
        </p:nvSpPr>
        <p:spPr>
          <a:xfrm>
            <a:off x="0" y="0"/>
            <a:ext cx="5376672" cy="5143500"/>
          </a:xfrm>
          <a:prstGeom prst="rect">
            <a:avLst/>
          </a:prstGeom>
          <a:solidFill>
            <a:srgbClr val="000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DF54824-3A03-A745-AD49-C744B2A21D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709C09F-8C0C-7248-AEB2-1C7859F51F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94CDEA-D510-9F45-84BD-82CAA8464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44A7A8-335B-174E-9471-7B8989F429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5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Photo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56035B-8130-D844-B0F2-44CBE0D286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6673" y="2571750"/>
            <a:ext cx="3767327" cy="2571750"/>
          </a:xfrm>
          <a:noFill/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8" cy="257175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4117486-5C49-E242-8CBE-03C8F87112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FE409C5D-AFD1-7745-A713-F12280BE81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E46F9CE-9C02-284E-A17F-0C31F82B2F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9677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nt with 2 Photos and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56035B-8130-D844-B0F2-44CBE0D286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6673" y="2571750"/>
            <a:ext cx="3767328" cy="2571750"/>
          </a:xfrm>
          <a:noFill/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DBF6C-0676-5247-8404-7764B27D9124}"/>
              </a:ext>
            </a:extLst>
          </p:cNvPr>
          <p:cNvSpPr/>
          <p:nvPr userDrawn="1"/>
        </p:nvSpPr>
        <p:spPr>
          <a:xfrm>
            <a:off x="0" y="0"/>
            <a:ext cx="5376672" cy="5143500"/>
          </a:xfrm>
          <a:prstGeom prst="rect">
            <a:avLst/>
          </a:prstGeom>
          <a:solidFill>
            <a:srgbClr val="000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8" cy="257175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25C079B-5F34-5149-9937-5E0A7D1910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C113B2A-25B6-4D4F-BE66-8FD128DADF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4511911-ADCF-3F4A-9C7A-1469A5E074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BC7184-67F4-D44E-A683-638A4BD08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0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Area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D46214E2-32D4-424B-9DE1-4EDE442968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43000"/>
            <a:ext cx="3840480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40E4E95-1B27-5348-9471-7BB69800ED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1B65E676-959E-0E41-8EAD-45D6F7E076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6320" y="1143000"/>
            <a:ext cx="3840480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1900B1-3D44-764E-9A42-70386E05E5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508760"/>
            <a:ext cx="3840480" cy="303476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685422-C0F4-174C-BFA6-015246A3D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6320" y="1508760"/>
            <a:ext cx="3840480" cy="303476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78109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 and Tex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4D7D689-7F2D-0348-816C-97C77A8DA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DB2A39F7-5A62-2B4C-A657-BD57B5768EF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200" y="1143000"/>
            <a:ext cx="368503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CCEB416-B433-8F46-8DFF-FFAC7ACCA5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3520440"/>
            <a:ext cx="3685032" cy="18108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66B16311-DD9F-7D43-964B-E92B217DC39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7200" y="3840480"/>
            <a:ext cx="368503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023AA45D-8199-F644-847B-E64A5EC3FB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246120"/>
            <a:ext cx="368503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2652C890-3579-2E47-9AB6-1D78A5E4764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01768" y="1143000"/>
            <a:ext cx="368503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DD1D0C09-D811-144F-BEBD-275B6A1207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1768" y="3520440"/>
            <a:ext cx="3685032" cy="18108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2213ED2D-D77F-7D49-9E2D-96B09A5A751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01768" y="3840480"/>
            <a:ext cx="368503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5AA83665-F240-0345-B903-C8950DEFAF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01768" y="3246120"/>
            <a:ext cx="368503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3352064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13F276B-7B5E-4A45-AB9F-2B475F2AEA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143000"/>
            <a:ext cx="249328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225D86E-8C5D-1841-9FAC-7F2781607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F0E9DEE-404F-3B49-8159-94FE1CD373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7A3DBA4-BE0E-254D-B5C0-8A64DDD66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1D2BBC2-2746-3640-A719-673E2A8446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89502A4B-C79D-094E-AB5C-63DF6E12EF8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27400" y="1143000"/>
            <a:ext cx="249631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EAC29D9-3DBA-0242-8290-359D5CA84B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35992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3F9A309D-AA80-C54C-9A92-012D53D91C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35992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03EA5BB2-66F6-4F44-964B-E9F9D73F21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35991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898309A4-718B-084E-8229-17E4D40AEA4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88617" y="1143000"/>
            <a:ext cx="249631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6A0BC0D-8996-364B-A361-13CBBB9B47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8777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8D60D97D-2394-F140-9FBA-975ED64074F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9632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5AA90BFA-AE15-3049-88D8-EA2FDB94E7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98067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2929323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" userDrawn="1">
          <p15:clr>
            <a:srgbClr val="FBAE40"/>
          </p15:clr>
        </p15:guide>
        <p15:guide id="2" pos="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61FE822B-AC64-EF4D-8FBA-F5A67DA6075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5720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5F05C8A-25A6-8743-93FA-19E18F32CEE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720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FCE87CD-A10E-D049-9E39-8C800BEF41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7B382B21-A741-2447-9794-C4BAAA2A348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819E2C4F-8306-5F45-9827-3921D5E3E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D4247F89-81E5-374A-93B4-95F0EBEEB19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60096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F7F65FAA-0013-D547-8E1C-08509B0C975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60096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0CC8275-50BB-9D46-8CBD-03E17397C17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0096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657B4D06-BD92-7545-B5A7-8502A75042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60096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F4ED884-6C25-824B-BDBF-AF0431A6640B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73456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AA0BC496-BA6C-7C4D-AC5E-A59885AE42A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73456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7D1AADA-118E-BE41-B80B-51BBD18F656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3456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4E11C2-3904-B24A-8E60-8EA03D6D30B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3456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17E6B775-F183-E24D-B8C8-C5A9D75E35B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85800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A052C5-1320-4341-BC7F-17F881F3CCB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85800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BD7FEF4-B67E-064E-B1C5-49DA8EA685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85800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EF1030E4-D0AC-614F-A18A-38721222865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5800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2619495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White_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0C70A86-A745-E949-B1D0-41B5D2173B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374AFBB-4A85-9144-9EB0-15F9294B61F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200" y="1143000"/>
            <a:ext cx="8229600" cy="3106216"/>
          </a:xfrm>
        </p:spPr>
        <p:txBody>
          <a:bodyPr/>
          <a:lstStyle>
            <a:lvl1pPr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graph, photo, or data visualization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0B3C679-22DF-8940-B381-273549871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396742"/>
            <a:ext cx="82296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1237F-D7E9-904A-BC33-1E69BDE7303D}"/>
              </a:ext>
            </a:extLst>
          </p:cNvPr>
          <p:cNvSpPr/>
          <p:nvPr userDrawn="1"/>
        </p:nvSpPr>
        <p:spPr>
          <a:xfrm>
            <a:off x="-832136" y="0"/>
            <a:ext cx="565609" cy="565609"/>
          </a:xfrm>
          <a:prstGeom prst="rect">
            <a:avLst/>
          </a:prstGeom>
          <a:solidFill>
            <a:srgbClr val="0A1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0030-82A1-3149-AAC5-8B912D85AC60}"/>
              </a:ext>
            </a:extLst>
          </p:cNvPr>
          <p:cNvSpPr/>
          <p:nvPr userDrawn="1"/>
        </p:nvSpPr>
        <p:spPr>
          <a:xfrm>
            <a:off x="-832136" y="999242"/>
            <a:ext cx="565609" cy="565609"/>
          </a:xfrm>
          <a:prstGeom prst="rect">
            <a:avLst/>
          </a:prstGeom>
          <a:solidFill>
            <a:srgbClr val="1A70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678108-D8E6-6F48-9E71-79B4060AB9EF}"/>
              </a:ext>
            </a:extLst>
          </p:cNvPr>
          <p:cNvSpPr/>
          <p:nvPr userDrawn="1"/>
        </p:nvSpPr>
        <p:spPr>
          <a:xfrm>
            <a:off x="-832136" y="2036191"/>
            <a:ext cx="565609" cy="565609"/>
          </a:xfrm>
          <a:prstGeom prst="rect">
            <a:avLst/>
          </a:prstGeom>
          <a:solidFill>
            <a:srgbClr val="00AA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500438-DFE5-1541-A57C-CCDAE308867C}"/>
              </a:ext>
            </a:extLst>
          </p:cNvPr>
          <p:cNvSpPr/>
          <p:nvPr userDrawn="1"/>
        </p:nvSpPr>
        <p:spPr>
          <a:xfrm>
            <a:off x="-832136" y="3073140"/>
            <a:ext cx="565609" cy="565609"/>
          </a:xfrm>
          <a:prstGeom prst="rect">
            <a:avLst/>
          </a:prstGeom>
          <a:solidFill>
            <a:srgbClr val="FF912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0A870-4CCE-B041-ADAA-FFD498F6B5DE}"/>
              </a:ext>
            </a:extLst>
          </p:cNvPr>
          <p:cNvSpPr txBox="1"/>
          <p:nvPr userDrawn="1"/>
        </p:nvSpPr>
        <p:spPr>
          <a:xfrm>
            <a:off x="-1784645" y="-715416"/>
            <a:ext cx="1518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LANL-APPROVED 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PALETTE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AD157-F0FF-E841-B877-5FF726EE6DB4}"/>
              </a:ext>
            </a:extLst>
          </p:cNvPr>
          <p:cNvSpPr txBox="1"/>
          <p:nvPr userDrawn="1"/>
        </p:nvSpPr>
        <p:spPr>
          <a:xfrm>
            <a:off x="-2109430" y="-249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COLOR: ULTRAMARINE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F9DA1-1206-D94F-936A-8C56D3FA0437}"/>
              </a:ext>
            </a:extLst>
          </p:cNvPr>
          <p:cNvSpPr txBox="1"/>
          <p:nvPr userDrawn="1"/>
        </p:nvSpPr>
        <p:spPr>
          <a:xfrm>
            <a:off x="-2109430" y="98731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COLOR: BLUE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18CEFD-1271-3F43-A3DB-664C3A2A6F61}"/>
              </a:ext>
            </a:extLst>
          </p:cNvPr>
          <p:cNvSpPr txBox="1"/>
          <p:nvPr userDrawn="1"/>
        </p:nvSpPr>
        <p:spPr>
          <a:xfrm>
            <a:off x="-2109430" y="2033693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GREEN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2C2957-98B7-7447-A979-8F5F9439F931}"/>
              </a:ext>
            </a:extLst>
          </p:cNvPr>
          <p:cNvSpPr txBox="1"/>
          <p:nvPr userDrawn="1"/>
        </p:nvSpPr>
        <p:spPr>
          <a:xfrm>
            <a:off x="-2109430" y="3080068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ORANGE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D5F0D-5C60-5143-BF1E-4A0546C4287F}"/>
              </a:ext>
            </a:extLst>
          </p:cNvPr>
          <p:cNvSpPr/>
          <p:nvPr userDrawn="1"/>
        </p:nvSpPr>
        <p:spPr>
          <a:xfrm>
            <a:off x="-832136" y="4156183"/>
            <a:ext cx="565609" cy="5656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A6A2F-D5F2-CB4B-A618-B3021CB6FE30}"/>
              </a:ext>
            </a:extLst>
          </p:cNvPr>
          <p:cNvSpPr txBox="1"/>
          <p:nvPr userDrawn="1"/>
        </p:nvSpPr>
        <p:spPr>
          <a:xfrm>
            <a:off x="-2109430" y="4163111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MONOCHROMATIC: GREY</a:t>
            </a:r>
          </a:p>
        </p:txBody>
      </p:sp>
    </p:spTree>
    <p:extLst>
      <p:ext uri="{BB962C8B-B14F-4D97-AF65-F5344CB8AC3E}">
        <p14:creationId xmlns:p14="http://schemas.microsoft.com/office/powerpoint/2010/main" val="416387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ackground 2_TOC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708-8F60-B848-8CBD-C589BF8C1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8229600" cy="685800"/>
          </a:xfrm>
        </p:spPr>
        <p:txBody>
          <a:bodyPr anchor="t" anchorCtr="0"/>
          <a:lstStyle>
            <a:lvl1pPr algn="l">
              <a:defRPr sz="240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7BDE90-6843-5841-BCCB-3479AD55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43000"/>
            <a:ext cx="8229600" cy="3200400"/>
          </a:xfrm>
        </p:spPr>
        <p:txBody>
          <a:bodyPr/>
          <a:lstStyle>
            <a:lvl1pPr marL="228600" indent="-217488">
              <a:buClr>
                <a:srgbClr val="3296DC"/>
              </a:buClr>
              <a:buFont typeface="+mj-lt"/>
              <a:buAutoNum type="arabicPeriod"/>
              <a:tabLst/>
              <a:defRPr/>
            </a:lvl1pPr>
            <a:lvl2pPr marL="458788" indent="-230188">
              <a:buClr>
                <a:srgbClr val="3296DC"/>
              </a:buClr>
              <a:buFont typeface="+mj-lt"/>
              <a:buAutoNum type="arabicPeriod"/>
              <a:tabLst/>
              <a:defRPr/>
            </a:lvl2pPr>
            <a:lvl3pPr marL="687388" indent="-228600">
              <a:buClr>
                <a:srgbClr val="3296DC"/>
              </a:buClr>
              <a:buFont typeface="+mj-lt"/>
              <a:buAutoNum type="arabicPeriod"/>
              <a:tabLst/>
              <a:defRPr/>
            </a:lvl3pPr>
            <a:lvl4pPr marL="1546225" indent="-174625"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1284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_Blue BG_Title and text only"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2C70FB-7F53-074A-B6BE-83A5226B14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077"/>
          <a:stretch/>
        </p:blipFill>
        <p:spPr>
          <a:xfrm>
            <a:off x="4572000" y="190440"/>
            <a:ext cx="4571999" cy="4953060"/>
          </a:xfrm>
          <a:prstGeom prst="rect">
            <a:avLst/>
          </a:prstGeom>
          <a:ln>
            <a:noFill/>
          </a:ln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D7EDC4A-BEF6-BF42-9D9A-F47ED202C474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6001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837E2F-4F21-1044-BFBE-A09264C747AB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6/26/25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296882-4466-CA4B-838A-C94D33F4B2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79DEE7-37EE-CA4D-8507-ABBFE1A5E8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8229600" cy="3195638"/>
          </a:xfrm>
        </p:spPr>
        <p:txBody>
          <a:bodyPr wrap="square"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bg1"/>
                </a:solidFill>
              </a:defRPr>
            </a:lvl1pPr>
            <a:lvl2pPr marL="460375" indent="-230188">
              <a:tabLst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914400" indent="-227013">
              <a:tabLst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8704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C25BDFE-288F-694A-8F3E-5EA7C70FB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43AE689-5E80-EF4B-BEB2-12EB7E2E7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671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F08DEE9-E8E9-294E-AFDB-272348017E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97816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515D795-953A-8047-83C7-D0752DBDB0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1063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C01086B-B4A6-8A48-849F-4A810C93B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1419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2E775BD-5F42-B44F-98CB-85BE7A979F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6589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266F9AF-0547-674E-8536-FB560908A4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603643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F14FC34-4139-5E42-8B4C-3D14628AB1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3671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9C51006D-405B-1540-844A-A08EDAFBA8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17717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B91A61BE-01BD-F145-9B92-D20E78E3DA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21193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D5F2828C-B1EF-364B-8D48-33FAC26A31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45412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D5B74BE-11D4-3E4C-AA8A-16543EABA1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0883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A61A0372-A989-7542-8743-212304AD19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00235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70A5-083D-2649-B16E-E603A2ACAC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519" y="3042072"/>
            <a:ext cx="1097280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60BD62F-9DEA-AD47-9777-0410E222A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68606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520748F-3B1C-7D44-9F74-07C77A95BD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8553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1F05B3B-46BF-E34A-B6EB-3B5C40F9DF4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3305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70A64131-E697-7142-892C-FECA1AF2C5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72200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EF72F97E-E60E-FB4D-82AA-CB9ACA474A8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96233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52133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-No Subhead"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12463272" cy="3195638"/>
          </a:xfrm>
        </p:spPr>
        <p:txBody>
          <a:bodyPr wrap="square"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bg1"/>
                </a:solidFill>
              </a:defRPr>
            </a:lvl1pPr>
            <a:lvl2pPr marL="460375" indent="-230188">
              <a:tabLst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914400" indent="-227013">
              <a:tabLst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68955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_TOC or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708-8F60-B848-8CBD-C589BF8C1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8229600" cy="685800"/>
          </a:xfrm>
        </p:spPr>
        <p:txBody>
          <a:bodyPr anchor="t" anchorCtr="0"/>
          <a:lstStyle>
            <a:lvl1pPr algn="l">
              <a:defRPr sz="240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7BDE90-6843-5841-BCCB-3479AD55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43000"/>
            <a:ext cx="8229600" cy="3200400"/>
          </a:xfrm>
        </p:spPr>
        <p:txBody>
          <a:bodyPr/>
          <a:lstStyle>
            <a:lvl1pPr marL="228600" indent="-228600">
              <a:buClr>
                <a:schemeClr val="bg1"/>
              </a:buClr>
              <a:tabLst/>
              <a:defRPr/>
            </a:lvl1pPr>
            <a:lvl2pPr marL="458788" indent="-230188">
              <a:buClr>
                <a:schemeClr val="bg1"/>
              </a:buClr>
              <a:buFont typeface="System Font Regular"/>
              <a:buChar char="⁃"/>
              <a:tabLst/>
              <a:defRPr/>
            </a:lvl2pPr>
            <a:lvl3pPr marL="687388" indent="-228600">
              <a:buClr>
                <a:schemeClr val="bg1"/>
              </a:buClr>
              <a:tabLst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60208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 2_TOC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708-8F60-B848-8CBD-C589BF8C1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8229600" cy="685800"/>
          </a:xfrm>
        </p:spPr>
        <p:txBody>
          <a:bodyPr anchor="t" anchorCtr="0"/>
          <a:lstStyle>
            <a:lvl1pPr algn="l">
              <a:defRPr sz="240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7BDE90-6843-5841-BCCB-3479AD55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43000"/>
            <a:ext cx="8229600" cy="3200400"/>
          </a:xfrm>
        </p:spPr>
        <p:txBody>
          <a:bodyPr/>
          <a:lstStyle>
            <a:lvl1pPr marL="228600" indent="-217488">
              <a:buClr>
                <a:srgbClr val="3296DC"/>
              </a:buClr>
              <a:buFont typeface="+mj-lt"/>
              <a:buAutoNum type="arabicPeriod"/>
              <a:tabLst/>
              <a:defRPr/>
            </a:lvl1pPr>
            <a:lvl2pPr marL="458788" indent="-230188">
              <a:buClr>
                <a:srgbClr val="3296DC"/>
              </a:buClr>
              <a:buFont typeface="+mj-lt"/>
              <a:buAutoNum type="arabicPeriod"/>
              <a:tabLst/>
              <a:defRPr/>
            </a:lvl2pPr>
            <a:lvl3pPr marL="687388" indent="-228600">
              <a:buClr>
                <a:srgbClr val="3296DC"/>
              </a:buClr>
              <a:buFont typeface="+mj-lt"/>
              <a:buAutoNum type="arabicPeriod"/>
              <a:tabLst/>
              <a:defRPr/>
            </a:lvl3pPr>
            <a:lvl4pPr marL="1546225" indent="-174625"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298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627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332841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3C9D7-E9D0-FF4B-A8C0-A88200BA90FB}"/>
              </a:ext>
            </a:extLst>
          </p:cNvPr>
          <p:cNvSpPr txBox="1">
            <a:spLocks/>
          </p:cNvSpPr>
          <p:nvPr userDrawn="1"/>
        </p:nvSpPr>
        <p:spPr>
          <a:xfrm>
            <a:off x="8708182" y="4846001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D9D28ED-2D06-3A46-9727-8A9B2D7E7F63}"/>
              </a:ext>
            </a:extLst>
          </p:cNvPr>
          <p:cNvSpPr txBox="1">
            <a:spLocks/>
          </p:cNvSpPr>
          <p:nvPr userDrawn="1"/>
        </p:nvSpPr>
        <p:spPr>
          <a:xfrm>
            <a:off x="8076886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6/26/25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DDB747-6C5D-1648-A189-AC12B7E178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29184" y="4811397"/>
            <a:ext cx="1033271" cy="20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6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92" r:id="rId3"/>
    <p:sldLayoutId id="2147483707" r:id="rId4"/>
    <p:sldLayoutId id="2147483686" r:id="rId5"/>
    <p:sldLayoutId id="2147483690" r:id="rId6"/>
    <p:sldLayoutId id="2147483667" r:id="rId7"/>
    <p:sldLayoutId id="2147483688" r:id="rId8"/>
    <p:sldLayoutId id="2147483674" r:id="rId9"/>
    <p:sldLayoutId id="2147483684" r:id="rId10"/>
    <p:sldLayoutId id="2147483678" r:id="rId11"/>
    <p:sldLayoutId id="2147483680" r:id="rId12"/>
    <p:sldLayoutId id="2147483682" r:id="rId13"/>
    <p:sldLayoutId id="2147483689" r:id="rId14"/>
    <p:sldLayoutId id="2147483724" r:id="rId15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0F7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0188" indent="-2222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0375" indent="-2301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−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8975" indent="-231775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4400" indent="-22701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9A08365-AEEB-3D48-A287-0A6C23C5D3D6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9122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198D408-451C-7649-B63F-9BB20EE7A64E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6/26/25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391D-1BCF-B249-A015-254233AE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886700" cy="6675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2BBD0-F847-394A-96EA-C2F6C3D0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7886700" cy="3262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0E74A-F632-C648-A3E6-DE91F970873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675" r:id="rId2"/>
    <p:sldLayoutId id="2147483708" r:id="rId3"/>
    <p:sldLayoutId id="2147483694" r:id="rId4"/>
    <p:sldLayoutId id="2147483705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0663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Font typeface="Arial" panose="020B0604020202020204" pitchFamily="34" charset="0"/>
        <a:buChar char="•"/>
        <a:tabLst/>
        <a:defRPr sz="18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8788" indent="-230188" algn="l" defTabSz="914400" rtl="0" eaLnBrk="1" latinLnBrk="0" hangingPunct="1">
        <a:lnSpc>
          <a:spcPct val="90000"/>
        </a:lnSpc>
        <a:spcBef>
          <a:spcPts val="375"/>
        </a:spcBef>
        <a:buClr>
          <a:schemeClr val="bg1"/>
        </a:buClr>
        <a:buSzPct val="100000"/>
        <a:buFont typeface="System Font Regular"/>
        <a:buChar char="–"/>
        <a:tabLst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7575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bg1"/>
        </a:buClr>
        <a:buSzPct val="100000"/>
        <a:buFont typeface="System Font Regular"/>
        <a:buChar char="–"/>
        <a:tabLst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q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owdstrike.com/en-us/cybersecurity-101/endpoint-security/endpoint-detection-and-response-edr/" TargetMode="External"/><Relationship Id="rId2" Type="http://schemas.openxmlformats.org/officeDocument/2006/relationships/hyperlink" Target="https://openai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nist.gov/itl/executive-order-14028-improving-nations-cybersecurity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ntinelone.com/" TargetMode="External"/><Relationship Id="rId2" Type="http://schemas.openxmlformats.org/officeDocument/2006/relationships/hyperlink" Target="https://www.crowdstrike.com/en-us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ebpf.io/linux/concepts/resource-limit/" TargetMode="External"/><Relationship Id="rId3" Type="http://schemas.openxmlformats.org/officeDocument/2006/relationships/hyperlink" Target="https://docs.kernel.org/bpf/btf.html" TargetMode="External"/><Relationship Id="rId7" Type="http://schemas.openxmlformats.org/officeDocument/2006/relationships/hyperlink" Target="https://github.com/aya-rs/aya" TargetMode="External"/><Relationship Id="rId2" Type="http://schemas.openxmlformats.org/officeDocument/2006/relationships/hyperlink" Target="https://ebpf.io/what-is-ebpf/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crates.io/crates/libbpf-rs" TargetMode="External"/><Relationship Id="rId5" Type="http://schemas.openxmlformats.org/officeDocument/2006/relationships/hyperlink" Target="https://github.com/iovisor/bcc" TargetMode="External"/><Relationship Id="rId4" Type="http://schemas.openxmlformats.org/officeDocument/2006/relationships/hyperlink" Target="https://docs.ebpf.io/concepts/core/" TargetMode="External"/><Relationship Id="rId9" Type="http://schemas.openxmlformats.org/officeDocument/2006/relationships/hyperlink" Target="https://docs.ebpf.io/linux/program-typ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oidyzoidzoid/awesome-ebpf" TargetMode="External"/><Relationship Id="rId2" Type="http://schemas.openxmlformats.org/officeDocument/2006/relationships/hyperlink" Target="https://github.com/aya-rs/awesome-aya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pcg-benchmark.org/" TargetMode="External"/><Relationship Id="rId2" Type="http://schemas.openxmlformats.org/officeDocument/2006/relationships/hyperlink" Target="https://github.com/hpc/pavilion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icl.utk.edu/files/print/2021/hpcg-sc21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E7F5-A1F5-92B8-3C36-B8B187C5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4107ACB-F7D5-C290-3231-28A852F80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Endpoint Detection: Rust &amp; </a:t>
            </a:r>
            <a:r>
              <a:rPr lang="en-US" b="0" dirty="0" err="1"/>
              <a:t>eBPF</a:t>
            </a:r>
            <a:r>
              <a:rPr lang="en-US" b="0" dirty="0"/>
              <a:t> for HPC user activity monitoring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924D5AE7-18E6-207D-F144-FE2ED4014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Skip McGee, HPC</a:t>
            </a:r>
          </a:p>
          <a:p>
            <a:r>
              <a:rPr lang="en-US" dirty="0"/>
              <a:t>Thomas Bertschinger, HPC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DB8D842-260D-68A0-AA5E-587341D1EE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June 26, 2025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43AA28E-32C2-0E3C-6994-848273E852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LA-UR-25-26155</a:t>
            </a:r>
          </a:p>
        </p:txBody>
      </p:sp>
    </p:spTree>
    <p:extLst>
      <p:ext uri="{BB962C8B-B14F-4D97-AF65-F5344CB8AC3E}">
        <p14:creationId xmlns:p14="http://schemas.microsoft.com/office/powerpoint/2010/main" val="89440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B486-0D90-BC46-A743-488D68CB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96EB8-A281-7246-A5A5-ED735CA95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74A5A-001C-2347-920E-52D29E8EB9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Identified Solutions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77068-3F97-0142-B964-23649083E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 Review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316B1F-10CE-9048-8488-2668D96200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51419" y="2035380"/>
            <a:ext cx="1098804" cy="843802"/>
          </a:xfrm>
        </p:spPr>
        <p:txBody>
          <a:bodyPr/>
          <a:lstStyle/>
          <a:p>
            <a:r>
              <a:rPr lang="en-US" dirty="0"/>
              <a:t>Panhandle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8CFB6A-F93D-884D-8003-71F8D4640D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76588" y="2035380"/>
            <a:ext cx="1251037" cy="843802"/>
          </a:xfrm>
        </p:spPr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B8552B-103D-1F40-817D-5CA43EAA5B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Future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83F555-C4F4-7E42-AFC9-7F7AC81D37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96F4CA-A4C5-0645-BA3D-68603D662C7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98D823-F72B-2741-98B3-00DCC75F052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AC0CB-0BC4-444C-A986-883BDF60E59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1D16F0E-6B12-C34F-AB76-BF16698094E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4A6B80-7614-8547-A93A-E70D227DCA4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3E553E-8BFD-2644-8F1C-490C44BE901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What are we trying to do and why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2F93B4-DA55-EF43-80C6-E8696B4964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What existing solutions should we consider and evaluate?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A918E2-EDE9-6E48-82F0-4009EBCAFA2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Understanding </a:t>
            </a:r>
            <a:r>
              <a:rPr lang="en-US" dirty="0" err="1"/>
              <a:t>eBPF</a:t>
            </a:r>
            <a:r>
              <a:rPr lang="en-US" dirty="0"/>
              <a:t> and developing projects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95F456E-6B5D-674A-BE8C-3F1749901C2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Implementing a solution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875F93E-76D0-8E4B-8927-DBDD94847B5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dirty="0"/>
              <a:t>Assessing the solution we chose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54B7D01-3BFB-5840-B0F8-F38DB108A67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Where could or should we continue to improve?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19973BC-7168-F349-895F-A9BF412E27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Background: the changing landscape of HPC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3881CEB-0BCB-134D-B272-43949D55AB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500" dirty="0"/>
              <a:t>The HPC security model has historically been a hard outer shell and a relatively gooey middle.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HPC has been reluctant to field applications inside the cluster focused on monitoring and securing user workloads, due to performance impact considerations.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LANL collaborating with </a:t>
            </a:r>
            <a:r>
              <a:rPr lang="en-US" sz="1500" dirty="0">
                <a:hlinkClick r:id="rId2"/>
              </a:rPr>
              <a:t>OpenAI</a:t>
            </a:r>
            <a:r>
              <a:rPr lang="en-US" sz="1500" dirty="0"/>
              <a:t> &amp; implementing OpenAI models on Razorback (Testbed) and Venado (Production)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New security paradigm: provide platform security while also providing cybersecurity as a service for externally managed OpenAI services and applications.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The growth of EDR (</a:t>
            </a:r>
            <a:r>
              <a:rPr lang="en-US" sz="1500" dirty="0">
                <a:hlinkClick r:id="rId3"/>
              </a:rPr>
              <a:t>Endpoint Detection and Response</a:t>
            </a:r>
            <a:r>
              <a:rPr lang="en-US" sz="1500" dirty="0"/>
              <a:t>) products has been significant in the last 5-10 years.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Growing emphasis on understanding the ability to apply </a:t>
            </a:r>
            <a:r>
              <a:rPr lang="en-US" sz="1500" dirty="0">
                <a:hlinkClick r:id="rId4"/>
              </a:rPr>
              <a:t>Zero Trust</a:t>
            </a:r>
            <a:r>
              <a:rPr lang="en-US" sz="1500" dirty="0"/>
              <a:t> principles to HPC.</a:t>
            </a:r>
          </a:p>
          <a:p>
            <a:pPr>
              <a:buFont typeface="Wingdings" pitchFamily="2" charset="2"/>
              <a:buChar char="Ø"/>
            </a:pPr>
            <a:r>
              <a:rPr lang="en-US" sz="1500" dirty="0"/>
              <a:t>Anticipated workload changes to support GPU-intensive workloads like AI/ML training &amp; inference.</a:t>
            </a:r>
          </a:p>
        </p:txBody>
      </p:sp>
    </p:spTree>
    <p:extLst>
      <p:ext uri="{BB962C8B-B14F-4D97-AF65-F5344CB8AC3E}">
        <p14:creationId xmlns:p14="http://schemas.microsoft.com/office/powerpoint/2010/main" val="174538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B9135-7BF8-C941-ACAB-39BD7EFC1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Problem Definition: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ACC5B-BA06-3F4A-9377-DCB7FD59C2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049311"/>
            <a:ext cx="8229600" cy="3289327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Implement effective monitoring of user activity with minimal performance impact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i="1" dirty="0"/>
              <a:t>A malicious user probably won’t run `</a:t>
            </a:r>
            <a:r>
              <a:rPr lang="en-US" sz="1400" i="1" dirty="0" err="1"/>
              <a:t>evil.sh</a:t>
            </a:r>
            <a:r>
              <a:rPr lang="en-US" sz="1400" i="1" dirty="0"/>
              <a:t>`, but we CAN: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i="1" dirty="0"/>
              <a:t>Audit to scope compromise (after the fact)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i="1" dirty="0"/>
              <a:t>Audit to detect exploitation (at/after the act)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i="1" dirty="0"/>
              <a:t>Pattern user behavior ****(before the act)****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i="1" dirty="0"/>
              <a:t>Detect reconnaissance activity ****(before the act)****</a:t>
            </a:r>
          </a:p>
          <a:p>
            <a:pPr marL="0" indent="0">
              <a:buNone/>
            </a:pPr>
            <a:r>
              <a:rPr lang="en-US" sz="1400" i="1" dirty="0"/>
              <a:t>We can NOT:</a:t>
            </a:r>
          </a:p>
          <a:p>
            <a:pPr lvl="1">
              <a:buFont typeface="Wingdings" pitchFamily="2" charset="2"/>
              <a:buChar char="q"/>
            </a:pPr>
            <a:r>
              <a:rPr lang="en-US" sz="1400" i="1" dirty="0"/>
              <a:t>Significantly degrade node / cluster performance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BCE50-22E2-4CED-617E-2FD5EE7EC7FB}"/>
              </a:ext>
            </a:extLst>
          </p:cNvPr>
          <p:cNvSpPr txBox="1">
            <a:spLocks/>
          </p:cNvSpPr>
          <p:nvPr/>
        </p:nvSpPr>
        <p:spPr>
          <a:xfrm>
            <a:off x="457200" y="1557103"/>
            <a:ext cx="8229600" cy="6691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tabLst/>
              <a:defRPr sz="24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8788" indent="-230188" algn="l" defTabSz="9144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bg1"/>
              </a:buClr>
              <a:buSzPct val="100000"/>
              <a:buFont typeface="System Font Regular"/>
              <a:buNone/>
              <a:tabLst/>
              <a:defRPr sz="1600" b="1" i="0" kern="1200">
                <a:solidFill>
                  <a:schemeClr val="bg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738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Wingdings" pitchFamily="2" charset="2"/>
              <a:buNone/>
              <a:tabLst/>
              <a:defRPr sz="1400" b="1" i="0" kern="1200">
                <a:solidFill>
                  <a:schemeClr val="bg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75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SzPct val="100000"/>
              <a:buFont typeface="System Font Regular"/>
              <a:buNone/>
              <a:tabLst/>
              <a:defRPr sz="1200" b="1" i="0" kern="1200">
                <a:solidFill>
                  <a:schemeClr val="bg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1" i="0" kern="1200">
                <a:solidFill>
                  <a:schemeClr val="bg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Security End State:</a:t>
            </a:r>
          </a:p>
        </p:txBody>
      </p:sp>
    </p:spTree>
    <p:extLst>
      <p:ext uri="{BB962C8B-B14F-4D97-AF65-F5344CB8AC3E}">
        <p14:creationId xmlns:p14="http://schemas.microsoft.com/office/powerpoint/2010/main" val="276173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9ACA-379C-33B6-F768-520AD5D6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51EA89-7538-5586-095D-44AA07986B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Identified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3C9E3-8806-4FDA-FE80-58270973C0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8042223" cy="3195638"/>
          </a:xfrm>
        </p:spPr>
        <p:txBody>
          <a:bodyPr/>
          <a:lstStyle/>
          <a:p>
            <a:r>
              <a:rPr lang="en-US" dirty="0"/>
              <a:t>Improve and maintain what we were already doing: </a:t>
            </a:r>
          </a:p>
          <a:p>
            <a:pPr lvl="1"/>
            <a:r>
              <a:rPr lang="en-US" dirty="0"/>
              <a:t>Custom system auditing (`</a:t>
            </a:r>
            <a:r>
              <a:rPr lang="en-US" dirty="0" err="1"/>
              <a:t>auditd</a:t>
            </a:r>
            <a:r>
              <a:rPr lang="en-US" dirty="0"/>
              <a:t>` rules)</a:t>
            </a:r>
          </a:p>
          <a:p>
            <a:pPr lvl="1"/>
            <a:r>
              <a:rPr lang="en-US" dirty="0"/>
              <a:t>Syslog forwarding audit and other events (`</a:t>
            </a:r>
            <a:r>
              <a:rPr lang="en-US" dirty="0" err="1"/>
              <a:t>rsyslog</a:t>
            </a:r>
            <a:r>
              <a:rPr lang="en-US" dirty="0"/>
              <a:t>`)</a:t>
            </a:r>
          </a:p>
          <a:p>
            <a:r>
              <a:rPr lang="en-US" dirty="0"/>
              <a:t>Implement an existing EDR?</a:t>
            </a:r>
          </a:p>
          <a:p>
            <a:r>
              <a:rPr lang="en-US" dirty="0"/>
              <a:t>Implement a terminal logger, needs to cover:</a:t>
            </a:r>
          </a:p>
          <a:p>
            <a:pPr lvl="1"/>
            <a:r>
              <a:rPr lang="en-US" dirty="0"/>
              <a:t>Bash</a:t>
            </a:r>
          </a:p>
          <a:p>
            <a:pPr lvl="1"/>
            <a:r>
              <a:rPr lang="en-US" dirty="0" err="1"/>
              <a:t>Zsh</a:t>
            </a:r>
            <a:endParaRPr lang="en-US" dirty="0"/>
          </a:p>
          <a:p>
            <a:pPr lvl="1"/>
            <a:r>
              <a:rPr lang="en-US" dirty="0" err="1"/>
              <a:t>Tcsh</a:t>
            </a:r>
            <a:endParaRPr lang="en-US" dirty="0"/>
          </a:p>
          <a:p>
            <a:pPr lvl="1"/>
            <a:r>
              <a:rPr lang="en-US" dirty="0"/>
              <a:t>other shells</a:t>
            </a:r>
          </a:p>
          <a:p>
            <a:r>
              <a:rPr lang="en-US" dirty="0"/>
              <a:t>Develop our own solution?</a:t>
            </a:r>
          </a:p>
        </p:txBody>
      </p:sp>
    </p:spTree>
    <p:extLst>
      <p:ext uri="{BB962C8B-B14F-4D97-AF65-F5344CB8AC3E}">
        <p14:creationId xmlns:p14="http://schemas.microsoft.com/office/powerpoint/2010/main" val="179289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45C8-FD59-C682-575D-B856020F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0B0AD7-F64A-3D3A-AD47-EC9665C3CA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EDR Alternatives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C7EA8EE-5F48-B1FB-C16A-FF60BCF51A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966866"/>
            <a:ext cx="8226054" cy="3376533"/>
          </a:xfrm>
        </p:spPr>
        <p:txBody>
          <a:bodyPr/>
          <a:lstStyle/>
          <a:p>
            <a:r>
              <a:rPr lang="en-US" dirty="0">
                <a:hlinkClick r:id="rId2"/>
              </a:rPr>
              <a:t>CrowdStrike</a:t>
            </a:r>
            <a:endParaRPr lang="en-US" dirty="0"/>
          </a:p>
          <a:p>
            <a:r>
              <a:rPr lang="en-US" dirty="0" err="1">
                <a:hlinkClick r:id="rId3"/>
              </a:rPr>
              <a:t>SentinelOne</a:t>
            </a:r>
            <a:endParaRPr lang="en-US" dirty="0"/>
          </a:p>
          <a:p>
            <a:endParaRPr lang="en-US" dirty="0"/>
          </a:p>
          <a:p>
            <a:r>
              <a:rPr lang="en-US" dirty="0"/>
              <a:t>Licensing Costs ($$$)</a:t>
            </a:r>
          </a:p>
          <a:p>
            <a:r>
              <a:rPr lang="en-US" dirty="0" err="1"/>
              <a:t>eBPF</a:t>
            </a:r>
            <a:endParaRPr lang="en-US" dirty="0"/>
          </a:p>
          <a:p>
            <a:r>
              <a:rPr lang="en-US" dirty="0"/>
              <a:t>Linux agents (cross platform, but we only run Linux)</a:t>
            </a:r>
          </a:p>
          <a:p>
            <a:r>
              <a:rPr lang="en-US" dirty="0"/>
              <a:t>Monitoring platform (client / server linking architecture)</a:t>
            </a:r>
          </a:p>
          <a:p>
            <a:r>
              <a:rPr lang="en-US" dirty="0"/>
              <a:t>Wide focus: </a:t>
            </a:r>
          </a:p>
          <a:p>
            <a:pPr lvl="1"/>
            <a:r>
              <a:rPr lang="en-US" dirty="0"/>
              <a:t>Desktop =&gt; Server</a:t>
            </a:r>
          </a:p>
          <a:p>
            <a:pPr lvl="1"/>
            <a:r>
              <a:rPr lang="en-US" dirty="0"/>
              <a:t>Lots of applications</a:t>
            </a:r>
          </a:p>
          <a:p>
            <a:pPr lvl="1"/>
            <a:r>
              <a:rPr lang="en-US" dirty="0"/>
              <a:t>Lots of host configurations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B3CA4FD7-4729-21EC-FDFB-E163D4AD9A24}"/>
              </a:ext>
            </a:extLst>
          </p:cNvPr>
          <p:cNvSpPr txBox="1">
            <a:spLocks/>
          </p:cNvSpPr>
          <p:nvPr/>
        </p:nvSpPr>
        <p:spPr>
          <a:xfrm>
            <a:off x="457200" y="1666002"/>
            <a:ext cx="8226054" cy="6691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4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What do these solutions have in common?</a:t>
            </a:r>
          </a:p>
        </p:txBody>
      </p:sp>
    </p:spTree>
    <p:extLst>
      <p:ext uri="{BB962C8B-B14F-4D97-AF65-F5344CB8AC3E}">
        <p14:creationId xmlns:p14="http://schemas.microsoft.com/office/powerpoint/2010/main" val="150484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F108-80D6-E967-F509-025F2187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C5CBD-EA1D-387A-533B-C266AC580B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eBPF</a:t>
            </a:r>
            <a:r>
              <a:rPr lang="en-US" dirty="0"/>
              <a:t>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4A895-3F1B-72D0-AFFA-71E75CC54F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044315"/>
            <a:ext cx="8042223" cy="3294323"/>
          </a:xfrm>
        </p:spPr>
        <p:txBody>
          <a:bodyPr/>
          <a:lstStyle/>
          <a:p>
            <a:r>
              <a:rPr lang="en-US" dirty="0">
                <a:hlinkClick r:id="rId2"/>
              </a:rPr>
              <a:t>eBPF</a:t>
            </a:r>
            <a:r>
              <a:rPr lang="en-US" dirty="0"/>
              <a:t> is old: formerly known as Extended Berkley Packet Filters, integrated into the Linux kernel in 2014, successor to BPF (implemented in the Linux kernel in 1993)</a:t>
            </a:r>
          </a:p>
          <a:p>
            <a:r>
              <a:rPr lang="en-US" dirty="0">
                <a:hlinkClick r:id="rId3"/>
              </a:rPr>
              <a:t>BTF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CO-RE</a:t>
            </a:r>
            <a:r>
              <a:rPr lang="en-US" dirty="0"/>
              <a:t> (Compile Once - Run Everywhere) </a:t>
            </a:r>
          </a:p>
          <a:p>
            <a:pPr lvl="1"/>
            <a:r>
              <a:rPr lang="en-US" dirty="0"/>
              <a:t>“a </a:t>
            </a:r>
            <a:r>
              <a:rPr lang="en-US" b="1" dirty="0"/>
              <a:t>concept</a:t>
            </a:r>
            <a:r>
              <a:rPr lang="en-US" dirty="0"/>
              <a:t> to build cross-version kernel </a:t>
            </a:r>
            <a:r>
              <a:rPr lang="en-US" dirty="0" err="1"/>
              <a:t>eBPF</a:t>
            </a:r>
            <a:r>
              <a:rPr lang="en-US" dirty="0"/>
              <a:t> application by building in a single binary by bringing together the BTF type information, </a:t>
            </a:r>
            <a:r>
              <a:rPr lang="en-US" dirty="0" err="1"/>
              <a:t>libbpf</a:t>
            </a:r>
            <a:r>
              <a:rPr lang="en-US" dirty="0"/>
              <a:t> and the compiler.”</a:t>
            </a:r>
          </a:p>
          <a:p>
            <a:r>
              <a:rPr lang="en-US" dirty="0"/>
              <a:t>Languages: C, Go, Rust, Python</a:t>
            </a:r>
          </a:p>
          <a:p>
            <a:r>
              <a:rPr lang="en-US" dirty="0"/>
              <a:t>Multiple different projects that are worth mentioning:</a:t>
            </a:r>
          </a:p>
          <a:p>
            <a:pPr lvl="1"/>
            <a:r>
              <a:rPr lang="en-US" dirty="0">
                <a:hlinkClick r:id="rId5"/>
              </a:rPr>
              <a:t>BCC Tools</a:t>
            </a:r>
            <a:endParaRPr lang="en-US" dirty="0"/>
          </a:p>
          <a:p>
            <a:pPr lvl="1"/>
            <a:r>
              <a:rPr lang="en-US" dirty="0"/>
              <a:t>Rust: </a:t>
            </a:r>
            <a:r>
              <a:rPr lang="en-US" dirty="0" err="1">
                <a:hlinkClick r:id="rId6"/>
              </a:rPr>
              <a:t>libbpf-rs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aya</a:t>
            </a:r>
            <a:endParaRPr lang="en-US" dirty="0"/>
          </a:p>
          <a:p>
            <a:r>
              <a:rPr lang="en-US" dirty="0" err="1"/>
              <a:t>eBPF</a:t>
            </a:r>
            <a:r>
              <a:rPr lang="en-US" dirty="0"/>
              <a:t> is </a:t>
            </a:r>
            <a:r>
              <a:rPr lang="en-US" dirty="0">
                <a:hlinkClick r:id="rId8"/>
              </a:rPr>
              <a:t>resource limited</a:t>
            </a:r>
            <a:r>
              <a:rPr lang="en-US" dirty="0"/>
              <a:t> (especially memory)</a:t>
            </a:r>
          </a:p>
          <a:p>
            <a:r>
              <a:rPr lang="en-US" dirty="0"/>
              <a:t>Exposed </a:t>
            </a:r>
            <a:r>
              <a:rPr lang="en-US" dirty="0">
                <a:hlinkClick r:id="rId9"/>
              </a:rPr>
              <a:t>program types </a:t>
            </a:r>
            <a:r>
              <a:rPr lang="en-US" dirty="0"/>
              <a:t>include </a:t>
            </a:r>
            <a:r>
              <a:rPr lang="en-US" dirty="0" err="1"/>
              <a:t>tracepoints</a:t>
            </a:r>
            <a:r>
              <a:rPr lang="en-US" dirty="0"/>
              <a:t>, user probes and kernel probes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9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91035-7E90-7AB7-B8A4-985ED9DB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B20C1D-23AD-D146-96A1-04563C9BC8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Aya Rust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E3411-478D-E10E-9A0C-55390C622E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8042223" cy="3195638"/>
          </a:xfrm>
        </p:spPr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sz="1300" dirty="0"/>
              <a:t>Write Rust, compile into CO-RE compliant </a:t>
            </a:r>
            <a:r>
              <a:rPr lang="en-US" sz="1300" dirty="0" err="1"/>
              <a:t>eBPF</a:t>
            </a:r>
            <a:r>
              <a:rPr lang="en-US" sz="1300" dirty="0"/>
              <a:t> bytecode:  “Support for the BPF Type Format (BTF), which is transparently enabled when supported by the target kernel. This allows </a:t>
            </a:r>
            <a:r>
              <a:rPr lang="en-US" sz="1300" dirty="0" err="1"/>
              <a:t>eBPF</a:t>
            </a:r>
            <a:r>
              <a:rPr lang="en-US" sz="1300" dirty="0"/>
              <a:t> programs compiled against one kernel version to run on different kernel versions without the need to recompile.” </a:t>
            </a:r>
            <a:r>
              <a:rPr lang="en-US" sz="1300" dirty="0">
                <a:hlinkClick r:id="rId2"/>
              </a:rPr>
              <a:t>https://github.com/aya-rs/awesome-aya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Provide a single binary that contains the entire program (minimize host dependencies): “</a:t>
            </a:r>
            <a:r>
              <a:rPr lang="en-US" sz="1300" dirty="0" err="1"/>
              <a:t>aya</a:t>
            </a:r>
            <a:r>
              <a:rPr lang="en-US" sz="1300" dirty="0"/>
              <a:t> doesn't require a kernel build or compiled headers… or a C toolchain” </a:t>
            </a:r>
            <a:r>
              <a:rPr lang="en-US" sz="1300" dirty="0">
                <a:hlinkClick r:id="rId2"/>
              </a:rPr>
              <a:t>https://github.com/aya-rs/awesome-aya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Leverage Rust workspaces for </a:t>
            </a:r>
            <a:r>
              <a:rPr lang="en-US" sz="1300" dirty="0" err="1"/>
              <a:t>userspace</a:t>
            </a:r>
            <a:r>
              <a:rPr lang="en-US" sz="1300" dirty="0"/>
              <a:t>, common and </a:t>
            </a:r>
            <a:r>
              <a:rPr lang="en-US" sz="1300" dirty="0" err="1"/>
              <a:t>eBPF</a:t>
            </a:r>
            <a:r>
              <a:rPr lang="en-US" sz="1300" dirty="0"/>
              <a:t> programs &amp; exposes standard </a:t>
            </a:r>
            <a:r>
              <a:rPr lang="en-US" sz="1300" dirty="0" err="1"/>
              <a:t>eBPF</a:t>
            </a:r>
            <a:r>
              <a:rPr lang="en-US" sz="1300" dirty="0"/>
              <a:t> methods: “Support for function call relocation and global data maps, which allows </a:t>
            </a:r>
            <a:r>
              <a:rPr lang="en-US" sz="1300" dirty="0" err="1"/>
              <a:t>eBPF</a:t>
            </a:r>
            <a:r>
              <a:rPr lang="en-US" sz="1300" dirty="0"/>
              <a:t> programs to make function calls and use global variables and initializers” </a:t>
            </a:r>
            <a:r>
              <a:rPr lang="en-US" sz="1300" dirty="0">
                <a:hlinkClick r:id="rId2"/>
              </a:rPr>
              <a:t>https://github.com/aya-rs/awesome-aya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There is significant development in this space: </a:t>
            </a:r>
            <a:r>
              <a:rPr lang="en-US" sz="1300" dirty="0">
                <a:hlinkClick r:id="rId3"/>
              </a:rPr>
              <a:t>https://github.com/zoidyzoidzoid/awesome-ebpf</a:t>
            </a:r>
            <a:endParaRPr lang="en-US" sz="1300" dirty="0"/>
          </a:p>
          <a:p>
            <a:r>
              <a:rPr lang="en-US" dirty="0"/>
              <a:t>Cons:</a:t>
            </a:r>
          </a:p>
          <a:p>
            <a:pPr lvl="1"/>
            <a:r>
              <a:rPr lang="en-US" sz="1300" dirty="0"/>
              <a:t>Currently in the unstable nightly build (as of </a:t>
            </a:r>
            <a:r>
              <a:rPr lang="en-US" sz="1300" dirty="0" err="1"/>
              <a:t>rustc</a:t>
            </a:r>
            <a:r>
              <a:rPr lang="en-US" sz="1300" dirty="0"/>
              <a:t> 1.90.0-nightly)</a:t>
            </a:r>
          </a:p>
          <a:p>
            <a:pPr lvl="1"/>
            <a:r>
              <a:rPr lang="en-US" sz="1300" dirty="0"/>
              <a:t>Limited documentation</a:t>
            </a:r>
          </a:p>
          <a:p>
            <a:pPr lvl="1"/>
            <a:r>
              <a:rPr lang="en-US" sz="1300" dirty="0"/>
              <a:t>Linux Kernel &gt;= 4.3 for a majority of features</a:t>
            </a:r>
          </a:p>
        </p:txBody>
      </p:sp>
    </p:spTree>
    <p:extLst>
      <p:ext uri="{BB962C8B-B14F-4D97-AF65-F5344CB8AC3E}">
        <p14:creationId xmlns:p14="http://schemas.microsoft.com/office/powerpoint/2010/main" val="294237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E888-7064-8A69-4A0B-17B1FCB4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8C663E-7305-0C98-7B01-446BD24E2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Panhandle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787C8-C679-EC30-0CD7-1DA97BA3E3D7}"/>
              </a:ext>
            </a:extLst>
          </p:cNvPr>
          <p:cNvSpPr txBox="1"/>
          <p:nvPr/>
        </p:nvSpPr>
        <p:spPr>
          <a:xfrm>
            <a:off x="457200" y="1219200"/>
            <a:ext cx="2068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Filter by </a:t>
            </a:r>
            <a:r>
              <a:rPr lang="en-US" dirty="0" err="1">
                <a:solidFill>
                  <a:schemeClr val="bg1"/>
                </a:solidFill>
              </a:rPr>
              <a:t>uid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Target shell and/or </a:t>
            </a:r>
            <a:r>
              <a:rPr lang="en-US" dirty="0" err="1">
                <a:solidFill>
                  <a:schemeClr val="bg1"/>
                </a:solidFill>
              </a:rPr>
              <a:t>execve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syscall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Human or JSON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Console, file or http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5FA9D-132A-5D02-EB16-0A280CC6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245" y="1219200"/>
            <a:ext cx="6320335" cy="336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3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ADD8-E7BA-7FE1-4E7E-83F4FF15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3FEFA7-12E2-077E-5FF6-69B7AFA8B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Panhandle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F0CB8-B873-F990-70D2-593D917E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1" b="4362"/>
          <a:stretch>
            <a:fillRect/>
          </a:stretch>
        </p:blipFill>
        <p:spPr>
          <a:xfrm>
            <a:off x="3556128" y="1239187"/>
            <a:ext cx="2146300" cy="2978046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54E33C01-6876-F931-1B7E-333ED5BB8100}"/>
              </a:ext>
            </a:extLst>
          </p:cNvPr>
          <p:cNvSpPr/>
          <p:nvPr/>
        </p:nvSpPr>
        <p:spPr>
          <a:xfrm>
            <a:off x="2904558" y="1757085"/>
            <a:ext cx="535028" cy="45719"/>
          </a:xfrm>
          <a:prstGeom prst="rightArrow">
            <a:avLst/>
          </a:prstGeom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4FAE19C-1818-B09D-DE7C-FF65A668F6D6}"/>
              </a:ext>
            </a:extLst>
          </p:cNvPr>
          <p:cNvSpPr/>
          <p:nvPr/>
        </p:nvSpPr>
        <p:spPr>
          <a:xfrm>
            <a:off x="2904558" y="2536840"/>
            <a:ext cx="535028" cy="45719"/>
          </a:xfrm>
          <a:prstGeom prst="rightArrow">
            <a:avLst/>
          </a:prstGeom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5930E1C-F148-5254-94FE-D23637A2A3C3}"/>
              </a:ext>
            </a:extLst>
          </p:cNvPr>
          <p:cNvSpPr/>
          <p:nvPr/>
        </p:nvSpPr>
        <p:spPr>
          <a:xfrm>
            <a:off x="2904558" y="2989577"/>
            <a:ext cx="535028" cy="45719"/>
          </a:xfrm>
          <a:prstGeom prst="rightArrow">
            <a:avLst/>
          </a:prstGeom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173E8-A89B-0F7A-6A17-B7DB1A028D5A}"/>
              </a:ext>
            </a:extLst>
          </p:cNvPr>
          <p:cNvSpPr txBox="1"/>
          <p:nvPr/>
        </p:nvSpPr>
        <p:spPr>
          <a:xfrm>
            <a:off x="457201" y="1552216"/>
            <a:ext cx="2583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Userland program (CLI, argument parsing, output)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Common (shared) methods, structs,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eBPF</a:t>
            </a:r>
            <a:r>
              <a:rPr lang="en-US" dirty="0">
                <a:solidFill>
                  <a:schemeClr val="bg1"/>
                </a:solidFill>
              </a:rPr>
              <a:t> Program(s)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7F73F-D2DC-586C-81E6-72964795F3BA}"/>
              </a:ext>
            </a:extLst>
          </p:cNvPr>
          <p:cNvSpPr txBox="1"/>
          <p:nvPr/>
        </p:nvSpPr>
        <p:spPr>
          <a:xfrm>
            <a:off x="5831539" y="1156920"/>
            <a:ext cx="2559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RPM 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Systemd</a:t>
            </a:r>
            <a:r>
              <a:rPr lang="en-US" dirty="0">
                <a:solidFill>
                  <a:schemeClr val="bg1"/>
                </a:solidFill>
              </a:rPr>
              <a:t> Service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77FCC2-C3CD-9019-459B-F718C822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651"/>
          <a:stretch>
            <a:fillRect/>
          </a:stretch>
        </p:blipFill>
        <p:spPr>
          <a:xfrm>
            <a:off x="5831539" y="3547293"/>
            <a:ext cx="3043130" cy="797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F05298-82AB-E2FA-10D7-1E42C6182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39" y="2429379"/>
            <a:ext cx="2527300" cy="482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F15B67-92CD-0442-A7A3-7780D3A6C367}"/>
              </a:ext>
            </a:extLst>
          </p:cNvPr>
          <p:cNvSpPr txBox="1"/>
          <p:nvPr/>
        </p:nvSpPr>
        <p:spPr>
          <a:xfrm>
            <a:off x="5799416" y="3177961"/>
            <a:ext cx="255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Systemd</a:t>
            </a:r>
            <a:r>
              <a:rPr lang="en-US" dirty="0">
                <a:solidFill>
                  <a:schemeClr val="bg1"/>
                </a:solidFill>
              </a:rPr>
              <a:t> Service:</a:t>
            </a:r>
          </a:p>
        </p:txBody>
      </p:sp>
    </p:spTree>
    <p:extLst>
      <p:ext uri="{BB962C8B-B14F-4D97-AF65-F5344CB8AC3E}">
        <p14:creationId xmlns:p14="http://schemas.microsoft.com/office/powerpoint/2010/main" val="398854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FD55-FE4B-617D-0C49-DC1C1B6E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BAF4FE-D5F6-C915-BA23-DFCBC42EA3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Panhandle Output (Bash Shell Example)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B84E9-3FED-A921-BBA4-0BF6CD15B68B}"/>
              </a:ext>
            </a:extLst>
          </p:cNvPr>
          <p:cNvSpPr txBox="1"/>
          <p:nvPr/>
        </p:nvSpPr>
        <p:spPr>
          <a:xfrm>
            <a:off x="397240" y="1146344"/>
            <a:ext cx="8132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readable, `panhandle --bash --file /var/log/panhandle/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panhandle.log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3042F-FF5B-A022-805E-B3236346F937}"/>
              </a:ext>
            </a:extLst>
          </p:cNvPr>
          <p:cNvSpPr txBox="1"/>
          <p:nvPr/>
        </p:nvSpPr>
        <p:spPr>
          <a:xfrm>
            <a:off x="146151" y="1484898"/>
            <a:ext cx="85406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17:08:44 [INFO] moniker: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entry: 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uname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-a,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command: bash,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77777,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gid: 66666,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'2025-06-24_17:08:44'</a:t>
            </a:r>
          </a:p>
          <a:p>
            <a:pPr>
              <a:buNone/>
            </a:pP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17:08:46 [INFO] moniker: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entry: 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whoami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command: bash,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77777,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gid: 66666,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'2025-06-24_17:08:46'</a:t>
            </a:r>
          </a:p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17:08:52 [INFO] moniker: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entry: bash 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evil.sh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command: bash,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77777,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gid: 66666,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1604000, 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'2025-06-24_17:08:52'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5C213-3FD5-42EB-931D-2B3B2E8F6369}"/>
              </a:ext>
            </a:extLst>
          </p:cNvPr>
          <p:cNvSpPr txBox="1"/>
          <p:nvPr/>
        </p:nvSpPr>
        <p:spPr>
          <a:xfrm>
            <a:off x="397240" y="2665567"/>
            <a:ext cx="7829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JSON, `panhandle --bash –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--file /var/log/panhandle/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panhandle.log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A1AE92-C0D1-1A9F-5557-886487D07F38}"/>
              </a:ext>
            </a:extLst>
          </p:cNvPr>
          <p:cNvSpPr txBox="1"/>
          <p:nvPr/>
        </p:nvSpPr>
        <p:spPr>
          <a:xfrm>
            <a:off x="146151" y="3052778"/>
            <a:ext cx="85406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17:09:40 [INFO] {"moniker": ”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"entry": "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whoami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"command": "bash",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 77777 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"1604000", "gid": " 66666 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"1604000",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"2025-06-24_17:09:40"}</a:t>
            </a:r>
          </a:p>
          <a:p>
            <a:pPr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17:09:43 [INFO] {"moniker": ”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"entry": "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uname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-a",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"command": "bash",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 77777 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"1604000", "gid": " 66666 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"1604000",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"2025-06-24_17:09:43"}</a:t>
            </a:r>
          </a:p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17:09:45 [INFO] {"moniker": ”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"entry": "bash 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evil.sh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"command": "bash",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": " 77777 ", "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"1604000", "gid":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66666 ",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"1604000", 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"2025-06-24_17:09:45"}</a:t>
            </a:r>
          </a:p>
        </p:txBody>
      </p:sp>
    </p:spTree>
    <p:extLst>
      <p:ext uri="{BB962C8B-B14F-4D97-AF65-F5344CB8AC3E}">
        <p14:creationId xmlns:p14="http://schemas.microsoft.com/office/powerpoint/2010/main" val="408413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7650-3C7A-BC46-E58B-4B97D82E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1302B1-8F03-4387-B899-018A05E0DA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Panhandle Output (</a:t>
            </a:r>
            <a:r>
              <a:rPr lang="en-US" dirty="0" err="1"/>
              <a:t>Execve</a:t>
            </a:r>
            <a:r>
              <a:rPr lang="en-US" dirty="0"/>
              <a:t> </a:t>
            </a:r>
            <a:r>
              <a:rPr lang="en-US" dirty="0" err="1"/>
              <a:t>Syscall</a:t>
            </a:r>
            <a:r>
              <a:rPr lang="en-US" dirty="0"/>
              <a:t> Example)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42242-B44D-E71D-A1DD-CEA506E6D093}"/>
              </a:ext>
            </a:extLst>
          </p:cNvPr>
          <p:cNvSpPr txBox="1"/>
          <p:nvPr/>
        </p:nvSpPr>
        <p:spPr>
          <a:xfrm>
            <a:off x="457199" y="1121447"/>
            <a:ext cx="842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readable, `panhandle --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syscall-execve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–file /var/log/panhandle/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panhandle.log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E44AB-0594-7AEC-0A4A-9182C02B782F}"/>
              </a:ext>
            </a:extLst>
          </p:cNvPr>
          <p:cNvSpPr txBox="1"/>
          <p:nvPr/>
        </p:nvSpPr>
        <p:spPr>
          <a:xfrm>
            <a:off x="457199" y="2489051"/>
            <a:ext cx="842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JSON, `panhandle --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syscall-execve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--file /var/log/panhandle/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panhandle.log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`: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AF639-3FF1-6BB6-8945-5AF6CE0F91F1}"/>
              </a:ext>
            </a:extLst>
          </p:cNvPr>
          <p:cNvSpPr txBox="1"/>
          <p:nvPr/>
        </p:nvSpPr>
        <p:spPr>
          <a:xfrm>
            <a:off x="262328" y="1519784"/>
            <a:ext cx="861934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17:16:49 [INFO] moniker: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filename: /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/bin/bash,  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command: bash,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77777,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1604264, gid: 66666,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1604264, 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  <a:r>
              <a:rPr lang="en-US" sz="1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bash,evil.sh</a:t>
            </a: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,],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[SHELL=/bin/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bash,HOSTNAME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=vegas.lanl.gov,KRB5_PKCS11=PKCS11:/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/lib64/pkcs11/libnetpkcs11.so,MODULES_VERBOSITY=concise,</a:t>
            </a:r>
          </a:p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PWD=/home/elvis,KRB5CCNAME=FILE:/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/krb5cc_77777_TNRWne,LOGNAME=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elvis,XDG_SESSION_TYPE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tty,HOME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=/home/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elvis,LANG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=en_US.UTF-8, SSH_CONNECTION=777.777.777.777 55122 666.666.666.666 22,XDG_SESSION_CLASS=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user,TERM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=xterm-256color,],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'2025-06-24_17:16:49'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48B2E-5C9E-2633-1CAB-A4D0C9E8BC24}"/>
              </a:ext>
            </a:extLst>
          </p:cNvPr>
          <p:cNvSpPr txBox="1"/>
          <p:nvPr/>
        </p:nvSpPr>
        <p:spPr>
          <a:xfrm>
            <a:off x="262328" y="2873335"/>
            <a:ext cx="86193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17:20:44 [INFO] {"moniker": ”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"filename": "/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/bin/bash",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"command": "bash", 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”77777", 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"1604295", "gid": ”66666", 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tgid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"1604295", 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["bash", "</a:t>
            </a:r>
            <a:r>
              <a:rPr lang="en-US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evil.sh</a:t>
            </a:r>
            <a:r>
              <a:rPr lang="en-US" sz="1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"],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envs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["SHELL=/bin/bash", "HOSTNAME=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vegas.lanl.gov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"KRB5_PKCS11=PKCS11:/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/lib64/pkcs11/libnetpkcs11.so", "MODULES_VERBOSITY=concise", "PWD=/home/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"KRB5CCNAME=FILE:/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/krb5cc_77777_TNRWne", "LOGNAME=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"XDG_SESSION_TYPE=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tty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"HOME=/home/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"LANG=en_US.UTF-8", "SSH_CONNECTION=777.777.777.777 55122 666.666.666.666 22", "XDG_SESSION_CLASS=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user","TERM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=xterm-256color"], "</a:t>
            </a:r>
            <a:r>
              <a:rPr lang="en-US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ts_utc</a:t>
            </a:r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": "2025-06-24_17:20:44" }</a:t>
            </a:r>
          </a:p>
        </p:txBody>
      </p:sp>
    </p:spTree>
    <p:extLst>
      <p:ext uri="{BB962C8B-B14F-4D97-AF65-F5344CB8AC3E}">
        <p14:creationId xmlns:p14="http://schemas.microsoft.com/office/powerpoint/2010/main" val="875496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EEC7FF-3878-F244-B5E5-C6DCBFA02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GitLab Project + CI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EDD3B9-3338-6C42-9B00-47F0AF069C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8542" y="4107764"/>
            <a:ext cx="2689411" cy="425180"/>
          </a:xfrm>
        </p:spPr>
        <p:txBody>
          <a:bodyPr/>
          <a:lstStyle/>
          <a:p>
            <a:r>
              <a:rPr lang="en-US" dirty="0"/>
              <a:t>CI Lint, Test, build binary release, build rpms (ARM + AMD builds)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50583-EB01-777A-AB91-BD428F94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427" y="457200"/>
            <a:ext cx="4317576" cy="4057366"/>
          </a:xfrm>
          <a:prstGeom prst="rect">
            <a:avLst/>
          </a:prstGeom>
          <a:ln w="25400" cap="rnd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9E3342-6478-A854-783F-54DAC106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" y="1126356"/>
            <a:ext cx="4317576" cy="2737432"/>
          </a:xfrm>
          <a:prstGeom prst="rect">
            <a:avLst/>
          </a:prstGeom>
          <a:ln w="25400" cap="rnd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2542390-64A2-51D4-2F9F-8393D0ACF0F4}"/>
              </a:ext>
            </a:extLst>
          </p:cNvPr>
          <p:cNvSpPr txBox="1">
            <a:spLocks/>
          </p:cNvSpPr>
          <p:nvPr/>
        </p:nvSpPr>
        <p:spPr>
          <a:xfrm>
            <a:off x="4983480" y="4686300"/>
            <a:ext cx="2594330" cy="4251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GitLab project for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402173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43A8-0FAC-7133-15B5-16A723B6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00487A1-ACA1-00A9-AD31-E6B8F25955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47" t="4429" r="13605" b="9277"/>
          <a:stretch>
            <a:fillRect/>
          </a:stretch>
        </p:blipFill>
        <p:spPr>
          <a:xfrm>
            <a:off x="3110112" y="486679"/>
            <a:ext cx="5747019" cy="4201865"/>
          </a:xfrm>
          <a:ln w="25400" cap="rnd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292322-B07F-2F28-2BE5-63A415A7C7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Ansible Role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7ABBA04-6DCB-EB3E-D2F8-E4AFDB51DB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20340" y="4843504"/>
            <a:ext cx="1507214" cy="299996"/>
          </a:xfrm>
        </p:spPr>
        <p:txBody>
          <a:bodyPr/>
          <a:lstStyle/>
          <a:p>
            <a:r>
              <a:rPr lang="en-US" dirty="0"/>
              <a:t>Panhandle Ansible 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EB8793-51DC-482F-A0DE-401B1750D7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2482581" cy="35433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1600" dirty="0"/>
              <a:t>Install rpm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Set up custom system configs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Expose OpenAI defaults as a </a:t>
            </a:r>
            <a:r>
              <a:rPr lang="en-US" sz="1600" dirty="0" err="1"/>
              <a:t>boolean</a:t>
            </a:r>
            <a:endParaRPr lang="en-US" sz="1600" dirty="0"/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Enable system service file customization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/>
              <a:t>Manage service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 err="1"/>
              <a:t>Rsyslog</a:t>
            </a:r>
            <a:r>
              <a:rPr lang="en-US" sz="1600" dirty="0"/>
              <a:t> file handler or http logger</a:t>
            </a:r>
          </a:p>
        </p:txBody>
      </p:sp>
    </p:spTree>
    <p:extLst>
      <p:ext uri="{BB962C8B-B14F-4D97-AF65-F5344CB8AC3E}">
        <p14:creationId xmlns:p14="http://schemas.microsoft.com/office/powerpoint/2010/main" val="2125685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4023-D6AC-90EF-B4DA-0B3A827CA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FD4DB2B2-45EB-09F2-47C4-C476383DDA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128" r="1128"/>
          <a:stretch/>
        </p:blipFill>
        <p:spPr>
          <a:xfrm>
            <a:off x="1895329" y="1126356"/>
            <a:ext cx="6698557" cy="3365696"/>
          </a:xfrm>
          <a:ln w="25400" cap="rnd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DBC975F-138E-6D40-90AB-9EB904554E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Splunk Monitoring App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FB6F1A6-CCB4-F05E-9E7C-02B6D10DBB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1586" y="4623830"/>
            <a:ext cx="1505063" cy="425180"/>
          </a:xfrm>
        </p:spPr>
        <p:txBody>
          <a:bodyPr/>
          <a:lstStyle/>
          <a:p>
            <a:r>
              <a:rPr lang="en-US" dirty="0"/>
              <a:t>Panhandle Splunk App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8A623D-1AAE-53F2-638F-1AFE258CE9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1703294" cy="319563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Filter by:</a:t>
            </a:r>
          </a:p>
          <a:p>
            <a:r>
              <a:rPr lang="en-US" sz="1400" dirty="0"/>
              <a:t>Moniker</a:t>
            </a:r>
          </a:p>
          <a:p>
            <a:r>
              <a:rPr lang="en-US" sz="1400" dirty="0"/>
              <a:t>UID</a:t>
            </a:r>
          </a:p>
          <a:p>
            <a:r>
              <a:rPr lang="en-US" sz="1400" dirty="0"/>
              <a:t>Host</a:t>
            </a:r>
          </a:p>
          <a:p>
            <a:r>
              <a:rPr lang="en-US" sz="1400" dirty="0"/>
              <a:t>Time</a:t>
            </a:r>
          </a:p>
          <a:p>
            <a:r>
              <a:rPr lang="en-US" sz="1400" dirty="0"/>
              <a:t>Future: </a:t>
            </a:r>
          </a:p>
          <a:p>
            <a:pPr lvl="1"/>
            <a:r>
              <a:rPr lang="en-US" sz="1200" dirty="0"/>
              <a:t>Top/Tail</a:t>
            </a:r>
          </a:p>
          <a:p>
            <a:pPr lvl="1"/>
            <a:r>
              <a:rPr lang="en-US" sz="1200" dirty="0"/>
              <a:t>Additional analytics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B413B1-2307-3BAA-CFE7-CCFAE185C770}"/>
              </a:ext>
            </a:extLst>
          </p:cNvPr>
          <p:cNvSpPr/>
          <p:nvPr/>
        </p:nvSpPr>
        <p:spPr>
          <a:xfrm>
            <a:off x="5636649" y="2169994"/>
            <a:ext cx="382014" cy="1235122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uid</a:t>
            </a:r>
            <a:endParaRPr lang="en-US" sz="8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A66711-44AB-3F15-3321-CA7E4637AF6C}"/>
              </a:ext>
            </a:extLst>
          </p:cNvPr>
          <p:cNvSpPr/>
          <p:nvPr/>
        </p:nvSpPr>
        <p:spPr>
          <a:xfrm>
            <a:off x="6955368" y="2191643"/>
            <a:ext cx="382014" cy="1235122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tgid</a:t>
            </a:r>
            <a:endParaRPr lang="en-US" sz="8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1E332D-FE11-788C-302E-2F1CABB2DE0B}"/>
              </a:ext>
            </a:extLst>
          </p:cNvPr>
          <p:cNvSpPr/>
          <p:nvPr/>
        </p:nvSpPr>
        <p:spPr>
          <a:xfrm>
            <a:off x="3214049" y="2196232"/>
            <a:ext cx="668739" cy="1235122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monikers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F0B4A8-AF63-52DF-8F60-D146423976B4}"/>
              </a:ext>
            </a:extLst>
          </p:cNvPr>
          <p:cNvSpPr/>
          <p:nvPr/>
        </p:nvSpPr>
        <p:spPr>
          <a:xfrm>
            <a:off x="2573688" y="2329218"/>
            <a:ext cx="523511" cy="1097547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hosts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0E440A-7DA7-62E5-B3A8-A053843F8798}"/>
              </a:ext>
            </a:extLst>
          </p:cNvPr>
          <p:cNvSpPr/>
          <p:nvPr/>
        </p:nvSpPr>
        <p:spPr>
          <a:xfrm>
            <a:off x="3360700" y="1642869"/>
            <a:ext cx="371963" cy="152643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uid</a:t>
            </a:r>
            <a:endParaRPr lang="en-US" sz="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ABB43B-C8DE-9ADA-9F0C-A38DEDEC1178}"/>
              </a:ext>
            </a:extLst>
          </p:cNvPr>
          <p:cNvSpPr/>
          <p:nvPr/>
        </p:nvSpPr>
        <p:spPr>
          <a:xfrm>
            <a:off x="4045363" y="1651465"/>
            <a:ext cx="451574" cy="152643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host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3EE18D-3E1D-CE6A-4BEB-24918862F164}"/>
              </a:ext>
            </a:extLst>
          </p:cNvPr>
          <p:cNvSpPr/>
          <p:nvPr/>
        </p:nvSpPr>
        <p:spPr>
          <a:xfrm>
            <a:off x="2635093" y="1651465"/>
            <a:ext cx="551660" cy="144047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moniker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F77C9B-EB12-1BB0-C162-D354F746A0B2}"/>
              </a:ext>
            </a:extLst>
          </p:cNvPr>
          <p:cNvSpPr/>
          <p:nvPr/>
        </p:nvSpPr>
        <p:spPr>
          <a:xfrm>
            <a:off x="2573688" y="1976693"/>
            <a:ext cx="613065" cy="144047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moniker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179F96-8FFC-C963-8FC6-EE0EFA34A447}"/>
              </a:ext>
            </a:extLst>
          </p:cNvPr>
          <p:cNvSpPr/>
          <p:nvPr/>
        </p:nvSpPr>
        <p:spPr>
          <a:xfrm>
            <a:off x="2573687" y="2191644"/>
            <a:ext cx="612223" cy="110278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moniker2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8BA9B8-4E7B-6397-E888-31716AD84DEE}"/>
              </a:ext>
            </a:extLst>
          </p:cNvPr>
          <p:cNvSpPr/>
          <p:nvPr/>
        </p:nvSpPr>
        <p:spPr>
          <a:xfrm>
            <a:off x="2444509" y="4338638"/>
            <a:ext cx="4526279" cy="131765"/>
          </a:xfrm>
          <a:prstGeom prst="roundRect">
            <a:avLst/>
          </a:prstGeom>
          <a:solidFill>
            <a:schemeClr val="tx1">
              <a:lumMod val="75000"/>
              <a:lumOff val="2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Unfiltered entries</a:t>
            </a:r>
          </a:p>
        </p:txBody>
      </p:sp>
    </p:spTree>
    <p:extLst>
      <p:ext uri="{BB962C8B-B14F-4D97-AF65-F5344CB8AC3E}">
        <p14:creationId xmlns:p14="http://schemas.microsoft.com/office/powerpoint/2010/main" val="362129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F597-68B2-3DE9-0C7C-406AFED6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93542B-9E05-78D7-29F0-7EC8385D6D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D35E7-2250-961E-9269-2A548125BD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8042223" cy="3195638"/>
          </a:xfrm>
        </p:spPr>
        <p:txBody>
          <a:bodyPr/>
          <a:lstStyle/>
          <a:p>
            <a:pPr lvl="1"/>
            <a:r>
              <a:rPr lang="en-US" dirty="0"/>
              <a:t>Dynamic service: workload increases with user activity</a:t>
            </a:r>
          </a:p>
          <a:p>
            <a:pPr lvl="1"/>
            <a:r>
              <a:rPr lang="en-US" dirty="0"/>
              <a:t>Razorback (Testbed for OpenAI, SLES)</a:t>
            </a:r>
          </a:p>
          <a:p>
            <a:pPr lvl="1"/>
            <a:r>
              <a:rPr lang="en-US" dirty="0"/>
              <a:t>Selene (Testbed for </a:t>
            </a:r>
            <a:r>
              <a:rPr lang="en-US" dirty="0" err="1"/>
              <a:t>OpenCHAMI</a:t>
            </a:r>
            <a:r>
              <a:rPr lang="en-US" dirty="0"/>
              <a:t>, RHEL8)</a:t>
            </a:r>
          </a:p>
          <a:p>
            <a:pPr lvl="1"/>
            <a:r>
              <a:rPr lang="en-US" dirty="0"/>
              <a:t>Test suite: Pavilion because that is what our PRE team uses (detail in next slide)</a:t>
            </a:r>
          </a:p>
          <a:p>
            <a:pPr lvl="1"/>
            <a:r>
              <a:rPr lang="en-US" dirty="0"/>
              <a:t>Anticipated performance impacts: </a:t>
            </a:r>
          </a:p>
          <a:p>
            <a:pPr lvl="2"/>
            <a:r>
              <a:rPr lang="en-US" b="1" i="1" dirty="0"/>
              <a:t>gigaflops (computing speed impacted by background system processes)</a:t>
            </a:r>
          </a:p>
          <a:p>
            <a:pPr lvl="2"/>
            <a:r>
              <a:rPr lang="en-US" b="1" i="1" dirty="0"/>
              <a:t>memory (memory will be used by the process)</a:t>
            </a:r>
          </a:p>
          <a:p>
            <a:pPr lvl="2"/>
            <a:r>
              <a:rPr lang="en-US" dirty="0"/>
              <a:t>filesystem: write to a single log file when configured (negligible file size, &lt;1MB when run for 7 days)</a:t>
            </a:r>
          </a:p>
          <a:p>
            <a:pPr lvl="2"/>
            <a:r>
              <a:rPr lang="en-US" dirty="0"/>
              <a:t>network: only uses network directly when the http option is selected to send the same data/size as the log file</a:t>
            </a:r>
          </a:p>
          <a:p>
            <a:pPr lvl="2"/>
            <a:r>
              <a:rPr lang="en-US" dirty="0"/>
              <a:t>other process impacts: </a:t>
            </a:r>
            <a:r>
              <a:rPr lang="en-US" dirty="0" err="1"/>
              <a:t>rsyslogd</a:t>
            </a:r>
            <a:r>
              <a:rPr lang="en-US" dirty="0"/>
              <a:t> file handler addition (trivial impact for a single file addition, this service is already used for monitoring other log files)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71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D862-4FC6-53D2-5697-20E2D23B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4232D6-311C-9F4D-DCE6-E97DDE882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457200"/>
            <a:ext cx="6543207" cy="669156"/>
          </a:xfrm>
        </p:spPr>
        <p:txBody>
          <a:bodyPr/>
          <a:lstStyle/>
          <a:p>
            <a:r>
              <a:rPr lang="en-US" dirty="0"/>
              <a:t>Performance Test Suite (Pavilion)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221975-EE27-C143-55ED-7CAE6F6B46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8172824" cy="3195638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hlinkClick r:id="rId2"/>
              </a:rPr>
              <a:t>Pavilion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Used to configure test inputs and problem sizes</a:t>
            </a:r>
          </a:p>
          <a:p>
            <a:r>
              <a:rPr lang="en-US" dirty="0"/>
              <a:t>The </a:t>
            </a:r>
            <a:r>
              <a:rPr lang="en-US" dirty="0">
                <a:hlinkClick r:id="rId3"/>
              </a:rPr>
              <a:t>High Performance Conjugate Gradients </a:t>
            </a:r>
            <a:r>
              <a:rPr lang="en-US" dirty="0"/>
              <a:t>(HPCG) Benchmark:</a:t>
            </a:r>
          </a:p>
          <a:p>
            <a:pPr lvl="1"/>
            <a:r>
              <a:rPr lang="en-US" dirty="0"/>
              <a:t>“uses a preconditioned conjugate gradient (PCG) algorithm to measure the performance of HPC platforms with respect to frequently observed, yet challenging, patterns of execution, memory access, and global communication.” </a:t>
            </a:r>
            <a:r>
              <a:rPr lang="en-US" dirty="0">
                <a:hlinkClick r:id="rId4"/>
              </a:rPr>
              <a:t>https://icl.utk.edu/files/print/2021/hpcg-sc21.pdf</a:t>
            </a:r>
            <a:endParaRPr lang="en-US" dirty="0"/>
          </a:p>
          <a:p>
            <a:r>
              <a:rPr lang="en-US" dirty="0"/>
              <a:t>How did we set it up?</a:t>
            </a:r>
          </a:p>
          <a:p>
            <a:pPr lvl="1"/>
            <a:r>
              <a:rPr lang="en-US" dirty="0"/>
              <a:t>Razorback: `pav run </a:t>
            </a:r>
            <a:r>
              <a:rPr lang="en-US" dirty="0" err="1"/>
              <a:t>hpcg</a:t>
            </a:r>
            <a:r>
              <a:rPr lang="en-US" dirty="0"/>
              <a:t> -c </a:t>
            </a:r>
            <a:r>
              <a:rPr lang="en-US" dirty="0" err="1"/>
              <a:t>schedule.include_nodes</a:t>
            </a:r>
            <a:r>
              <a:rPr lang="en-US" dirty="0"/>
              <a:t>=nid001030 -c </a:t>
            </a:r>
            <a:r>
              <a:rPr lang="en-US" dirty="0" err="1"/>
              <a:t>schedule.slurm.sbatch_extra</a:t>
            </a:r>
            <a:r>
              <a:rPr lang="en-US" dirty="0"/>
              <a:t>='--mem=20G --</a:t>
            </a:r>
            <a:r>
              <a:rPr lang="en-US" dirty="0" err="1"/>
              <a:t>ntasks</a:t>
            </a:r>
            <a:r>
              <a:rPr lang="en-US" dirty="0"/>
              <a:t>=12’`</a:t>
            </a:r>
          </a:p>
          <a:p>
            <a:pPr lvl="1"/>
            <a:r>
              <a:rPr lang="en-US" dirty="0"/>
              <a:t>Selene: `pav run </a:t>
            </a:r>
            <a:r>
              <a:rPr lang="en-US" dirty="0" err="1"/>
              <a:t>hpcg</a:t>
            </a:r>
            <a:r>
              <a:rPr lang="en-US" dirty="0"/>
              <a:t> -c </a:t>
            </a:r>
            <a:r>
              <a:rPr lang="en-US" dirty="0" err="1"/>
              <a:t>schedule.slurm.sbatch_extra</a:t>
            </a:r>
            <a:r>
              <a:rPr lang="en-US" dirty="0"/>
              <a:t>='--</a:t>
            </a:r>
            <a:r>
              <a:rPr lang="en-US" dirty="0" err="1"/>
              <a:t>ntasks</a:t>
            </a:r>
            <a:r>
              <a:rPr lang="en-US" dirty="0"/>
              <a:t>=2 --mem-per-</a:t>
            </a:r>
            <a:r>
              <a:rPr lang="en-US" dirty="0" err="1"/>
              <a:t>gpu</a:t>
            </a:r>
            <a:r>
              <a:rPr lang="en-US" dirty="0"/>
              <a:t>=40G --</a:t>
            </a:r>
            <a:r>
              <a:rPr lang="en-US" dirty="0" err="1"/>
              <a:t>gpus</a:t>
            </a:r>
            <a:r>
              <a:rPr lang="en-US" dirty="0"/>
              <a:t>-per-task=1' -c </a:t>
            </a:r>
            <a:r>
              <a:rPr lang="en-US" dirty="0" err="1"/>
              <a:t>schedule.include_nodes</a:t>
            </a:r>
            <a:r>
              <a:rPr lang="en-US" dirty="0"/>
              <a:t>=se003`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07032A-F38F-9CCD-567D-67CBF0A71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225" y="158371"/>
            <a:ext cx="2735435" cy="1588108"/>
          </a:xfrm>
          <a:prstGeom prst="rect">
            <a:avLst/>
          </a:prstGeom>
          <a:ln w="25400" cap="rnd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6929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9A01-A5BA-257B-2B66-7EB7CCA2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6ED513-E613-4973-BD17-526EF3510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457200"/>
            <a:ext cx="7261413" cy="669156"/>
          </a:xfrm>
        </p:spPr>
        <p:txBody>
          <a:bodyPr/>
          <a:lstStyle/>
          <a:p>
            <a:r>
              <a:rPr lang="en-US" dirty="0" err="1"/>
              <a:t>GigaFlops</a:t>
            </a:r>
            <a:r>
              <a:rPr lang="en-US" dirty="0"/>
              <a:t> Performance Test Results (Razorback)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86DC89-465B-2698-485D-95B79749E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09514"/>
              </p:ext>
            </p:extLst>
          </p:nvPr>
        </p:nvGraphicFramePr>
        <p:xfrm>
          <a:off x="4947313" y="1062634"/>
          <a:ext cx="3610635" cy="802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8839">
                  <a:extLst>
                    <a:ext uri="{9D8B030D-6E8A-4147-A177-3AD203B41FA5}">
                      <a16:colId xmlns:a16="http://schemas.microsoft.com/office/drawing/2014/main" val="3044430053"/>
                    </a:ext>
                  </a:extLst>
                </a:gridCol>
                <a:gridCol w="901796">
                  <a:extLst>
                    <a:ext uri="{9D8B030D-6E8A-4147-A177-3AD203B41FA5}">
                      <a16:colId xmlns:a16="http://schemas.microsoft.com/office/drawing/2014/main" val="71216832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Max/Min Difference (</a:t>
                      </a:r>
                      <a:r>
                        <a:rPr lang="en-US" sz="1200" u="none" strike="noStrike" dirty="0" err="1">
                          <a:effectLst/>
                        </a:rPr>
                        <a:t>GFlops</a:t>
                      </a:r>
                      <a:r>
                        <a:rPr lang="en-US" sz="1200" u="none" strike="noStrike" dirty="0">
                          <a:effectLst/>
                        </a:rPr>
                        <a:t>):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0.03538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0863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Variation from Median Performance (%)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0.00461443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0555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Average Node Performance (</a:t>
                      </a:r>
                      <a:r>
                        <a:rPr lang="en-US" sz="1200" u="none" strike="noStrike" dirty="0" err="1">
                          <a:effectLst/>
                        </a:rPr>
                        <a:t>GFlops</a:t>
                      </a:r>
                      <a:r>
                        <a:rPr lang="en-US" sz="1200" u="none" strike="noStrike" dirty="0"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7.6639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7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Median Node Performance (GFlops)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7.66726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002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5BF614-F829-C162-D9EB-4B83C6686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291745"/>
              </p:ext>
            </p:extLst>
          </p:nvPr>
        </p:nvGraphicFramePr>
        <p:xfrm>
          <a:off x="510989" y="3060700"/>
          <a:ext cx="2846841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6499">
                  <a:extLst>
                    <a:ext uri="{9D8B030D-6E8A-4147-A177-3AD203B41FA5}">
                      <a16:colId xmlns:a16="http://schemas.microsoft.com/office/drawing/2014/main" val="2446287640"/>
                    </a:ext>
                  </a:extLst>
                </a:gridCol>
                <a:gridCol w="1650342">
                  <a:extLst>
                    <a:ext uri="{9D8B030D-6E8A-4147-A177-3AD203B41FA5}">
                      <a16:colId xmlns:a16="http://schemas.microsoft.com/office/drawing/2014/main" val="293928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Number</a:t>
                      </a:r>
                      <a:endParaRPr lang="en-US" sz="1200" b="1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Panhandle Status</a:t>
                      </a:r>
                      <a:endParaRPr lang="en-US" sz="1200" b="1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7099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927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  <a:alpha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 Options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586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9537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Gateway Options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167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045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FMSH monitoring</a:t>
                      </a:r>
                      <a:endParaRPr lang="en-US" sz="1200" b="0" i="1" u="none" strike="noStrike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276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99482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B106A8D-86B2-878B-525A-1E2E07E01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917016"/>
              </p:ext>
            </p:extLst>
          </p:nvPr>
        </p:nvGraphicFramePr>
        <p:xfrm>
          <a:off x="510989" y="1039696"/>
          <a:ext cx="2846842" cy="170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89E7193-2CDA-4154-DBB9-F402F894E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6697267"/>
              </p:ext>
            </p:extLst>
          </p:nvPr>
        </p:nvGraphicFramePr>
        <p:xfrm>
          <a:off x="3985948" y="19431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ight Arrow 1">
            <a:extLst>
              <a:ext uri="{FF2B5EF4-FFF2-40B4-BE49-F238E27FC236}">
                <a16:creationId xmlns:a16="http://schemas.microsoft.com/office/drawing/2014/main" id="{84640AB6-A059-B4A5-3AF1-D3EEA67ADF0E}"/>
              </a:ext>
            </a:extLst>
          </p:cNvPr>
          <p:cNvSpPr/>
          <p:nvPr/>
        </p:nvSpPr>
        <p:spPr>
          <a:xfrm rot="2292433">
            <a:off x="3404066" y="1695869"/>
            <a:ext cx="1596788" cy="550686"/>
          </a:xfrm>
          <a:prstGeom prst="rightArrow">
            <a:avLst/>
          </a:prstGeom>
          <a:solidFill>
            <a:schemeClr val="accent1">
              <a:alpha val="5402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runs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CE9D2860-5814-55BA-A476-4EADDC975A20}"/>
              </a:ext>
            </a:extLst>
          </p:cNvPr>
          <p:cNvSpPr/>
          <p:nvPr/>
        </p:nvSpPr>
        <p:spPr>
          <a:xfrm>
            <a:off x="3357830" y="4355328"/>
            <a:ext cx="1275585" cy="409433"/>
          </a:xfrm>
          <a:prstGeom prst="leftRightArrow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#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A275C52-910A-815B-7D05-240F74298220}"/>
              </a:ext>
            </a:extLst>
          </p:cNvPr>
          <p:cNvSpPr/>
          <p:nvPr/>
        </p:nvSpPr>
        <p:spPr>
          <a:xfrm>
            <a:off x="5596807" y="4686300"/>
            <a:ext cx="1596788" cy="380079"/>
          </a:xfrm>
          <a:prstGeom prst="rightArrow">
            <a:avLst/>
          </a:prstGeom>
          <a:solidFill>
            <a:schemeClr val="accent1">
              <a:alpha val="5402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Sequential</a:t>
            </a:r>
          </a:p>
        </p:txBody>
      </p:sp>
    </p:spTree>
    <p:extLst>
      <p:ext uri="{BB962C8B-B14F-4D97-AF65-F5344CB8AC3E}">
        <p14:creationId xmlns:p14="http://schemas.microsoft.com/office/powerpoint/2010/main" val="355721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430C-39E0-883E-5DD0-5B1C18EE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CC73F9-33FE-59E2-69D1-79129EB9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457200"/>
            <a:ext cx="7261413" cy="669156"/>
          </a:xfrm>
        </p:spPr>
        <p:txBody>
          <a:bodyPr/>
          <a:lstStyle/>
          <a:p>
            <a:r>
              <a:rPr lang="en-US" dirty="0" err="1"/>
              <a:t>GigaFlops</a:t>
            </a:r>
            <a:r>
              <a:rPr lang="en-US" dirty="0"/>
              <a:t> Performance Test Results (Selene)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6DD836-A824-F6FB-4D47-CD35D88FA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49378"/>
              </p:ext>
            </p:extLst>
          </p:nvPr>
        </p:nvGraphicFramePr>
        <p:xfrm>
          <a:off x="4561594" y="1039696"/>
          <a:ext cx="3948585" cy="802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2383">
                  <a:extLst>
                    <a:ext uri="{9D8B030D-6E8A-4147-A177-3AD203B41FA5}">
                      <a16:colId xmlns:a16="http://schemas.microsoft.com/office/drawing/2014/main" val="3044430053"/>
                    </a:ext>
                  </a:extLst>
                </a:gridCol>
                <a:gridCol w="986202">
                  <a:extLst>
                    <a:ext uri="{9D8B030D-6E8A-4147-A177-3AD203B41FA5}">
                      <a16:colId xmlns:a16="http://schemas.microsoft.com/office/drawing/2014/main" val="71216832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Max/Min Difference (</a:t>
                      </a:r>
                      <a:r>
                        <a:rPr lang="en-US" sz="1200" u="none" strike="noStrike" dirty="0" err="1">
                          <a:effectLst/>
                        </a:rPr>
                        <a:t>GFlops</a:t>
                      </a:r>
                      <a:r>
                        <a:rPr lang="en-US" sz="1200" u="none" strike="noStrike" dirty="0">
                          <a:effectLst/>
                        </a:rPr>
                        <a:t>):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0.0273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0863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Variation from Median Performance (%)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0.01336597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0555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Average Node Performance (</a:t>
                      </a:r>
                      <a:r>
                        <a:rPr lang="en-US" sz="1200" u="none" strike="noStrike" dirty="0" err="1">
                          <a:effectLst/>
                        </a:rPr>
                        <a:t>GFlops</a:t>
                      </a:r>
                      <a:r>
                        <a:rPr lang="en-US" sz="1200" u="none" strike="noStrike" dirty="0"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2.05098235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7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Median Node Performance (GFlops)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2.0425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002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8DFFBC-9C08-0ED7-3987-327F09402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56280"/>
              </p:ext>
            </p:extLst>
          </p:nvPr>
        </p:nvGraphicFramePr>
        <p:xfrm>
          <a:off x="633821" y="3060700"/>
          <a:ext cx="2948716" cy="16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9316">
                  <a:extLst>
                    <a:ext uri="{9D8B030D-6E8A-4147-A177-3AD203B41FA5}">
                      <a16:colId xmlns:a16="http://schemas.microsoft.com/office/drawing/2014/main" val="2446287640"/>
                    </a:ext>
                  </a:extLst>
                </a:gridCol>
                <a:gridCol w="1709400">
                  <a:extLst>
                    <a:ext uri="{9D8B030D-6E8A-4147-A177-3AD203B41FA5}">
                      <a16:colId xmlns:a16="http://schemas.microsoft.com/office/drawing/2014/main" val="293928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Number</a:t>
                      </a:r>
                      <a:endParaRPr lang="en-US" sz="1200" b="1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Panhandle Status</a:t>
                      </a:r>
                      <a:endParaRPr lang="en-US" sz="1200" b="1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7099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927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  <a:alpha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 Options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586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9537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Gateway Options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167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045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FMSH monitoring</a:t>
                      </a:r>
                      <a:endParaRPr lang="en-US" sz="1200" b="0" i="1" u="none" strike="noStrike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276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0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b="0" i="0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i="1" u="none" strike="noStrike" dirty="0">
                          <a:ln w="15875" cap="rnd"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(Not Running)</a:t>
                      </a:r>
                      <a:endParaRPr lang="en-US" sz="1200" b="0" i="1" u="none" strike="noStrike" dirty="0">
                        <a:ln w="15875" cap="rnd"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99482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D0C784-5C10-9C31-1FA0-5787D22EC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475822"/>
              </p:ext>
            </p:extLst>
          </p:nvPr>
        </p:nvGraphicFramePr>
        <p:xfrm>
          <a:off x="633821" y="1039696"/>
          <a:ext cx="2887304" cy="1732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2655E92-B540-E82E-ADB9-EE4BA7529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5371107"/>
              </p:ext>
            </p:extLst>
          </p:nvPr>
        </p:nvGraphicFramePr>
        <p:xfrm>
          <a:off x="4082854" y="1917510"/>
          <a:ext cx="4427326" cy="2768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85175425-263F-1D95-406C-350E98D5B597}"/>
              </a:ext>
            </a:extLst>
          </p:cNvPr>
          <p:cNvSpPr/>
          <p:nvPr/>
        </p:nvSpPr>
        <p:spPr>
          <a:xfrm>
            <a:off x="3562550" y="4355328"/>
            <a:ext cx="1275585" cy="409433"/>
          </a:xfrm>
          <a:prstGeom prst="leftRightArrow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#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D40EF9F-D134-8BD9-4557-41FA1C1303EE}"/>
              </a:ext>
            </a:extLst>
          </p:cNvPr>
          <p:cNvSpPr/>
          <p:nvPr/>
        </p:nvSpPr>
        <p:spPr>
          <a:xfrm>
            <a:off x="5801527" y="4686300"/>
            <a:ext cx="1596788" cy="380079"/>
          </a:xfrm>
          <a:prstGeom prst="rightArrow">
            <a:avLst/>
          </a:prstGeom>
          <a:solidFill>
            <a:schemeClr val="accent1">
              <a:alpha val="5402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Sequential</a:t>
            </a:r>
          </a:p>
        </p:txBody>
      </p:sp>
    </p:spTree>
    <p:extLst>
      <p:ext uri="{BB962C8B-B14F-4D97-AF65-F5344CB8AC3E}">
        <p14:creationId xmlns:p14="http://schemas.microsoft.com/office/powerpoint/2010/main" val="10069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3158-B27A-538B-B384-C8D44CF1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435CDE-C827-F447-0CC2-2EB862E6E2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457200"/>
            <a:ext cx="7261413" cy="669156"/>
          </a:xfrm>
        </p:spPr>
        <p:txBody>
          <a:bodyPr/>
          <a:lstStyle/>
          <a:p>
            <a:r>
              <a:rPr lang="en-US" dirty="0"/>
              <a:t>Memory </a:t>
            </a:r>
            <a:r>
              <a:rPr lang="en-US" dirty="0" err="1"/>
              <a:t>Useage</a:t>
            </a:r>
            <a:r>
              <a:rPr lang="en-US" dirty="0"/>
              <a:t> Results (RHEL8 Gateway Node)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FEBBDDF-D474-FBEE-942A-5AFB07F4E2D5}"/>
              </a:ext>
            </a:extLst>
          </p:cNvPr>
          <p:cNvSpPr txBox="1">
            <a:spLocks/>
          </p:cNvSpPr>
          <p:nvPr/>
        </p:nvSpPr>
        <p:spPr>
          <a:xfrm>
            <a:off x="457199" y="1143000"/>
            <a:ext cx="7900587" cy="3195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running Panhandle service memory Resident Set Size:</a:t>
            </a:r>
          </a:p>
          <a:p>
            <a:pPr lvl="1"/>
            <a:r>
              <a:rPr lang="en-US" dirty="0"/>
              <a:t>113.9 MB:</a:t>
            </a:r>
          </a:p>
          <a:p>
            <a:r>
              <a:rPr lang="en-US" dirty="0"/>
              <a:t>The running CrowdStrike service memory Resident Set Size :</a:t>
            </a:r>
          </a:p>
          <a:p>
            <a:pPr lvl="1"/>
            <a:r>
              <a:rPr lang="en-US" dirty="0"/>
              <a:t>1.1697 GB</a:t>
            </a:r>
          </a:p>
          <a:p>
            <a:r>
              <a:rPr lang="en-US" dirty="0"/>
              <a:t>Top from running process:</a:t>
            </a:r>
          </a:p>
          <a:p>
            <a:pPr lvl="1"/>
            <a:r>
              <a:rPr lang="en-US" dirty="0"/>
              <a:t>Panhandle:</a:t>
            </a:r>
          </a:p>
          <a:p>
            <a:pPr lvl="1"/>
            <a:r>
              <a:rPr lang="en-US" dirty="0"/>
              <a:t>CrowdStrike: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5BA0AD-A40D-8931-355C-DF8F149B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06" y="3830404"/>
            <a:ext cx="5962337" cy="1049755"/>
          </a:xfrm>
          <a:prstGeom prst="rect">
            <a:avLst/>
          </a:prstGeom>
          <a:ln w="34925" cap="rnd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F3E0C2-3524-FFFB-30C6-BBDA0E2C9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08" y="2645058"/>
            <a:ext cx="4943007" cy="1010382"/>
          </a:xfrm>
          <a:prstGeom prst="rect">
            <a:avLst/>
          </a:prstGeom>
          <a:ln w="34925" cap="rnd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A674E2-79A2-F3C8-259A-BB7701104C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764"/>
          <a:stretch>
            <a:fillRect/>
          </a:stretch>
        </p:blipFill>
        <p:spPr>
          <a:xfrm>
            <a:off x="3418308" y="1458416"/>
            <a:ext cx="4943008" cy="281983"/>
          </a:xfrm>
          <a:prstGeom prst="rect">
            <a:avLst/>
          </a:prstGeom>
          <a:ln w="34925" cap="rnd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2EA50-5B04-EACA-E8AD-F6FBE46EC2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429"/>
          <a:stretch>
            <a:fillRect/>
          </a:stretch>
        </p:blipFill>
        <p:spPr>
          <a:xfrm>
            <a:off x="3414779" y="2078968"/>
            <a:ext cx="4943008" cy="281983"/>
          </a:xfrm>
          <a:prstGeom prst="rect">
            <a:avLst/>
          </a:prstGeom>
          <a:ln w="34925" cap="rnd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438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1270-D357-390B-324D-3A48B77B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31370A-B8F7-57BE-7E11-36DECB57F4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Performance Assessment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F558B6-6D9F-02F4-6B74-F06C7B2EC5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1143000"/>
            <a:ext cx="8012243" cy="3195638"/>
          </a:xfrm>
        </p:spPr>
        <p:txBody>
          <a:bodyPr/>
          <a:lstStyle/>
          <a:p>
            <a:r>
              <a:rPr lang="en-US" dirty="0"/>
              <a:t>Both the best and worst runs were made while `panhandle` was running</a:t>
            </a:r>
          </a:p>
          <a:p>
            <a:r>
              <a:rPr lang="en-US" b="1" i="1" dirty="0"/>
              <a:t>The impact of `panhandle` to user job compute performance is within the system noise</a:t>
            </a:r>
          </a:p>
          <a:p>
            <a:r>
              <a:rPr lang="en-US" dirty="0"/>
              <a:t>`panhandle` consumes more memory than any other system resource</a:t>
            </a:r>
          </a:p>
          <a:p>
            <a:r>
              <a:rPr lang="en-US" b="1" i="1" dirty="0"/>
              <a:t>`panhandle` improvements should focus on reducing memory </a:t>
            </a:r>
            <a:r>
              <a:rPr lang="en-US" b="1" i="1" dirty="0" err="1"/>
              <a:t>useage</a:t>
            </a:r>
            <a:endParaRPr lang="en-US" b="1" i="1" dirty="0"/>
          </a:p>
          <a:p>
            <a:r>
              <a:rPr lang="en-US" dirty="0"/>
              <a:t>The `panhandle` service used between 1/9-1/10 the memory of the running CrowdStrike service</a:t>
            </a:r>
          </a:p>
          <a:p>
            <a:r>
              <a:rPr lang="en-US" b="1" i="1" dirty="0"/>
              <a:t>`panhandle` has significantly less system impact than running CrowdStrike</a:t>
            </a:r>
          </a:p>
          <a:p>
            <a:pPr marL="0" indent="0">
              <a:buNone/>
            </a:pPr>
            <a:r>
              <a:rPr lang="en-US" sz="1600" i="1" dirty="0"/>
              <a:t>Caveat: this is system integration testing so the service impact may vary depending on system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624485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D221-32A9-F905-6094-20ACA559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EA9A9F-05F8-74A9-7024-658A592A6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30EFB-0E84-5B78-8F73-06EB186CF0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1143000"/>
            <a:ext cx="8042223" cy="3195638"/>
          </a:xfrm>
        </p:spPr>
        <p:txBody>
          <a:bodyPr/>
          <a:lstStyle/>
          <a:p>
            <a:pPr lvl="1"/>
            <a:r>
              <a:rPr lang="en-US" dirty="0"/>
              <a:t>Monitoring: Splunk application refinement</a:t>
            </a:r>
          </a:p>
          <a:p>
            <a:pPr lvl="1"/>
            <a:r>
              <a:rPr lang="en-US" dirty="0"/>
              <a:t>Behavioral patterning</a:t>
            </a:r>
          </a:p>
          <a:p>
            <a:pPr lvl="2"/>
            <a:r>
              <a:rPr lang="en-US" dirty="0"/>
              <a:t>This can be as obvious as anything !=`ssh frontend` from a gateway</a:t>
            </a:r>
          </a:p>
          <a:p>
            <a:pPr lvl="1"/>
            <a:r>
              <a:rPr lang="en-US" dirty="0"/>
              <a:t>Reconnaissance identification?</a:t>
            </a:r>
          </a:p>
          <a:p>
            <a:pPr lvl="1"/>
            <a:r>
              <a:rPr lang="en-US" dirty="0"/>
              <a:t>Exploit attempt identifications? Perhaps based on Proof of Concept Exploits?</a:t>
            </a:r>
          </a:p>
          <a:p>
            <a:pPr lvl="1"/>
            <a:r>
              <a:rPr lang="en-US" dirty="0"/>
              <a:t>Potential `panhandle` feature additions</a:t>
            </a:r>
          </a:p>
          <a:p>
            <a:pPr lvl="2"/>
            <a:r>
              <a:rPr lang="en-US" dirty="0"/>
              <a:t>Machine Learning model integration?</a:t>
            </a:r>
          </a:p>
          <a:p>
            <a:pPr lvl="2"/>
            <a:r>
              <a:rPr lang="en-US" dirty="0"/>
              <a:t>Response capability (initially to meet OpenAI requests)</a:t>
            </a:r>
          </a:p>
          <a:p>
            <a:pPr lvl="2"/>
            <a:r>
              <a:rPr lang="en-US" dirty="0"/>
              <a:t>What is the impact of additional features?</a:t>
            </a:r>
          </a:p>
        </p:txBody>
      </p:sp>
    </p:spTree>
    <p:extLst>
      <p:ext uri="{BB962C8B-B14F-4D97-AF65-F5344CB8AC3E}">
        <p14:creationId xmlns:p14="http://schemas.microsoft.com/office/powerpoint/2010/main" val="688557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7B89-79BA-0A33-B3BE-9C0849A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14D4F2-AD4D-1A97-DED5-94405813DB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DC0C65-6FC2-23FE-E935-1D236DFF0F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088776" y="1026826"/>
            <a:ext cx="6598024" cy="3311812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sz="1600" b="1" dirty="0"/>
              <a:t>Labor Costs: 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10 hours research and design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200 hours programming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10 hours testing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5 hours integration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i="1" dirty="0"/>
              <a:t>Total: 225 hours</a:t>
            </a:r>
          </a:p>
          <a:p>
            <a:pPr algn="just">
              <a:buFont typeface="Wingdings" pitchFamily="2" charset="2"/>
              <a:buChar char="q"/>
            </a:pPr>
            <a:r>
              <a:rPr lang="en-US" sz="1600" b="1" dirty="0"/>
              <a:t>Hardware Costs:</a:t>
            </a:r>
            <a:r>
              <a:rPr lang="en-US" sz="1600" dirty="0"/>
              <a:t> </a:t>
            </a:r>
            <a:r>
              <a:rPr lang="en-US" sz="1600" i="1" dirty="0"/>
              <a:t>N/A</a:t>
            </a:r>
          </a:p>
          <a:p>
            <a:pPr algn="just">
              <a:buFont typeface="Wingdings" pitchFamily="2" charset="2"/>
              <a:buChar char="q"/>
            </a:pPr>
            <a:r>
              <a:rPr lang="en-US" sz="1600" b="1" dirty="0"/>
              <a:t>Performance Impact: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No significant node performance impact</a:t>
            </a:r>
          </a:p>
          <a:p>
            <a:pPr algn="just">
              <a:buFont typeface="Wingdings" pitchFamily="2" charset="2"/>
              <a:buChar char="q"/>
            </a:pPr>
            <a:r>
              <a:rPr lang="en-US" sz="1600" b="1" dirty="0"/>
              <a:t>Results: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Increased security monitoring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i="1" dirty="0"/>
              <a:t>Established a platform for future features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164AA8-617B-969B-4948-58B36623A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805" y="4572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87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3446CD-AB5E-C1BA-927F-F18456822515}"/>
              </a:ext>
            </a:extLst>
          </p:cNvPr>
          <p:cNvSpPr txBox="1"/>
          <p:nvPr/>
        </p:nvSpPr>
        <p:spPr>
          <a:xfrm>
            <a:off x="3350302" y="2415868"/>
            <a:ext cx="1963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93176200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000E7E"/>
      </a:dk2>
      <a:lt2>
        <a:srgbClr val="E7E6E6"/>
      </a:lt2>
      <a:accent1>
        <a:srgbClr val="0070C1"/>
      </a:accent1>
      <a:accent2>
        <a:srgbClr val="FF9128"/>
      </a:accent2>
      <a:accent3>
        <a:srgbClr val="CCD0E1"/>
      </a:accent3>
      <a:accent4>
        <a:srgbClr val="00A963"/>
      </a:accent4>
      <a:accent5>
        <a:srgbClr val="69C3FF"/>
      </a:accent5>
      <a:accent6>
        <a:srgbClr val="EB0E1D"/>
      </a:accent6>
      <a:hlink>
        <a:srgbClr val="69C3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18879</TotalTime>
  <Words>2293</Words>
  <Application>Microsoft Macintosh PowerPoint</Application>
  <PresentationFormat>On-screen Show (16:9)</PresentationFormat>
  <Paragraphs>261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Acumin Pro</vt:lpstr>
      <vt:lpstr>Aptos Narrow</vt:lpstr>
      <vt:lpstr>Arial</vt:lpstr>
      <vt:lpstr>Calibri</vt:lpstr>
      <vt:lpstr>System Font Regular</vt:lpstr>
      <vt:lpstr>Wingdings</vt:lpstr>
      <vt:lpstr>Main</vt:lpstr>
      <vt:lpstr>Custom Design</vt:lpstr>
      <vt:lpstr>Endpoint Detection: Rust &amp; eBPF for HPC user activity monitoring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McGee, Skip</cp:lastModifiedBy>
  <cp:revision>361</cp:revision>
  <dcterms:created xsi:type="dcterms:W3CDTF">2020-12-17T00:35:24Z</dcterms:created>
  <dcterms:modified xsi:type="dcterms:W3CDTF">2025-06-26T22:07:37Z</dcterms:modified>
</cp:coreProperties>
</file>